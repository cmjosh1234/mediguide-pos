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40"/>
    <p:restoredTop sz="94649"/>
  </p:normalViewPr>
  <p:slideViewPr>
    <p:cSldViewPr snapToGrid="0">
      <p:cViewPr varScale="1">
        <p:scale>
          <a:sx n="183" d="100"/>
          <a:sy n="183" d="100"/>
        </p:scale>
        <p:origin x="224"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/Users/jaba/Documents/projects/web/mediguide-pos/README.md</a:t>
            </a:r>
          </a:p>
          <a:p>
            <a:r>
              <a:t>/Users/jaba/Documents/projects/web/mediguide-pos/docs/content-hub-and-document-publishing-workflow.md</a:t>
            </a:r>
          </a:p>
          <a:p>
            <a:r>
              <a:t>/Users/jaba/Documents/projects/web/mediguide-pos/docs/guideline-collections.md</a:t>
            </a:r>
          </a:p>
          <a:p>
            <a:r>
              <a:t>MediGuide supports public reading, an offline-first clinician application, and a staff publishing dashboard. AI requires service access and readers must verify citations. Conceptual illustration created with built-in imagegen, not a photograph.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Reader journey based on the four screenshots supplied by the user. 1. Open https://health.go.ug and select MediGuide in the top navigation. 2. The MediGuide platform opens at https://mediguide.health.go.ug. Select Browse guidelines to reach Available publications. 3. In Search publications type a title, source or topic. The supplied example types stan and shows Standard Case Definitions for Priority Diseases, Conditions and Events. 4. Click Read guideline on the desired publication. Read the content and use the contents menu or Search sections to navigate. The supplied reader includes an availability notice and advises using the original PDF as the fidelity reference when supplemental structured content is unavailable. Source guidance is already MoH-approved before its digital preparation and publication. Screenshots are presentation evidence, not live embedded pages.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Access URLs supplied by the user: https://mediguide.health.go.ug ; https://mediguide.health.go.ug/admin ; https://play.google.com/store/apps/details?id=com.mediguide.ug . App screenshot uses synthetic test fixtures. Sources: /Users/jaba/Documents/projects/web/mediguide-pos/guidelines-platform/README.md</a:t>
            </a:r>
          </a:p>
          <a:p>
            <a:r>
              <a:t>/Users/jaba/Documents/projects/web/mediguide-pos/user_app/test/full_screen_golden_matrix_test.dart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Public website, staff login and dashboard screenshots supplied by the user. These are screenshots, not live embedded applications. Dashboard counts reflect the supplied image only. Mobile screenshot rendered from the actual Flutter app with synthetic sample content. Demo: browse the public library, open the clinician app, then show staff sign-in and the publishing workspace. Sources: /Users/jaba/Documents/projects/web/mediguide-pos/user_app/test/full_screen_golden_matrix_test.dart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plan for discussion, not completed work or measured outcomes. Preserve sensitization and content expansion priorities. AI improvements build on the existing retrieval-augmented generation implementation: broaden reviewed sources, improve retrieval and source/version citations, evaluate on clinician-authored questions, record feedback and monitor response quality and latency. Design the assistant to state when evidence is insufficient. Agree target metrics, owners and release gates before implementation. Content priorities require an inventory check with MoH programme owners and approved source documents. Sources: /Users/jaba/Documents/projects/web/mediguide-pos/ai-worker/README.md</a:t>
            </a:r>
          </a:p>
          <a:p>
            <a:r>
              <a:t>/Users/jaba/Documents/projects/web/mediguide-pos/docs/content-hub-and-document-publishing-workflow.md</a:t>
            </a:r>
          </a:p>
          <a:p>
            <a:r>
              <a:t>/Users/jaba/Documents/projects/web/mediguide-pos/docs/guideline-authoring-and-publication-workflow.md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BBCB010-E4E8-44BD-9290-F7FD0EEC5D2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9D587498-6D34-42E0-A022-50136E9ECB7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B74F917-E73E-439E-98A4-593F58985CB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E996B04-1583-4568-A7E5-69D51F9AE6E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63408245-3FF0-457D-B260-55470F040A8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7FDC7C9-7020-4BED-833D-892B3929B65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0767C36-E628-4453-9F64-9B5573AE53B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B8A4967E-0A74-4279-A146-5647D067569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063753A-E8F2-4FBD-A151-CB7C3555373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C747EE1-6BB5-4C37-B289-E4B815666E1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mediguide.health.go.ug"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hyperlink" Target="https://play.google.com/store/apps/details?id=com.mediguide.ug" TargetMode="External"/><Relationship Id="rId4" Type="http://schemas.openxmlformats.org/officeDocument/2006/relationships/hyperlink" Target="https://mediguide.health.go.ug/admi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8F5"/>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6FF443C-D6DA-4D5C-821A-8191ABCDC4A0}"/>
              </a:ext>
            </a:extLst>
          </p:cNvPr>
          <p:cNvSpPr>
            <a:spLocks noGrp="1"/>
          </p:cNvSpPr>
          <p:nvPr/>
        </p:nvSpPr>
        <p:spPr>
          <a:xfrm>
            <a:off x="685800" y="552450"/>
            <a:ext cx="10820400" cy="857250"/>
          </a:xfrm>
          <a:prstGeom prst="rect">
            <a:avLst/>
          </a:prstGeom>
          <a:noFill/>
          <a:ln w="0">
            <a:noFill/>
          </a:ln>
        </p:spPr>
        <p:txBody>
          <a:bodyPr/>
          <a:lstStyle>
            <a:defPPr>
              <a:defRPr sz="3600" b="1">
                <a:solidFill>
                  <a:srgbClr val="102F3C"/>
                </a:solidFill>
                <a:latin typeface="Helvetica Neue"/>
                <a:ea typeface="Helvetica Neue"/>
                <a:cs typeface="Helvetica Neue"/>
              </a:defRPr>
            </a:defPPr>
          </a:lstStyle>
          <a:p>
            <a:pPr>
              <a:defRPr sz="3600" b="1">
                <a:solidFill>
                  <a:srgbClr val="102F3C"/>
                </a:solidFill>
                <a:latin typeface="Helvetica Neue"/>
                <a:ea typeface="Helvetica Neue"/>
                <a:cs typeface="Helvetica Neue"/>
              </a:defRPr>
            </a:pPr>
            <a:r>
              <a:rPr sz="3600" b="1">
                <a:solidFill>
                  <a:srgbClr val="102F3C"/>
                </a:solidFill>
                <a:latin typeface="Helvetica Neue"/>
                <a:ea typeface="Helvetica Neue"/>
                <a:cs typeface="Helvetica Neue"/>
              </a:rPr>
              <a:t>Overview</a:t>
            </a:r>
          </a:p>
        </p:txBody>
      </p:sp>
      <p:sp>
        <p:nvSpPr>
          <p:cNvPr id="2" name="Rectangle 1">
            <a:extLst>
              <a:ext uri="{FF2B5EF4-FFF2-40B4-BE49-F238E27FC236}">
                <a16:creationId xmlns:a16="http://schemas.microsoft.com/office/drawing/2014/main" id="{E0EE6B2A-D9CE-4A2A-8FB2-AF596E98FFCF}"/>
              </a:ext>
            </a:extLst>
          </p:cNvPr>
          <p:cNvSpPr>
            <a:spLocks noGrp="1"/>
          </p:cNvSpPr>
          <p:nvPr/>
        </p:nvSpPr>
        <p:spPr>
          <a:xfrm>
            <a:off x="11096625" y="6267450"/>
            <a:ext cx="457200" cy="266700"/>
          </a:xfrm>
          <a:prstGeom prst="rect">
            <a:avLst/>
          </a:prstGeom>
          <a:noFill/>
          <a:ln w="0">
            <a:noFill/>
          </a:ln>
        </p:spPr>
        <p:txBody>
          <a:bodyPr/>
          <a:lstStyle>
            <a:defPPr>
              <a:defRPr sz="1275" b="0">
                <a:solidFill>
                  <a:srgbClr val="516871"/>
                </a:solidFill>
                <a:latin typeface="Helvetica Neue"/>
                <a:ea typeface="Helvetica Neue"/>
                <a:cs typeface="Helvetica Neue"/>
              </a:defRPr>
            </a:defPPr>
          </a:lstStyle>
          <a:p>
            <a:pPr>
              <a:defRPr sz="1275" b="0">
                <a:solidFill>
                  <a:srgbClr val="516871"/>
                </a:solidFill>
                <a:latin typeface="Helvetica Neue"/>
                <a:ea typeface="Helvetica Neue"/>
                <a:cs typeface="Helvetica Neue"/>
              </a:defRPr>
            </a:pPr>
            <a:r>
              <a:rPr sz="1275" b="0">
                <a:solidFill>
                  <a:srgbClr val="516871"/>
                </a:solidFill>
                <a:latin typeface="Helvetica Neue"/>
                <a:ea typeface="Helvetica Neue"/>
                <a:cs typeface="Helvetica Neue"/>
              </a:rPr>
              <a:t>01</a:t>
            </a:r>
          </a:p>
        </p:txBody>
      </p:sp>
      <p:sp>
        <p:nvSpPr>
          <p:cNvPr id="3" name="Rectangle 2">
            <a:extLst>
              <a:ext uri="{FF2B5EF4-FFF2-40B4-BE49-F238E27FC236}">
                <a16:creationId xmlns:a16="http://schemas.microsoft.com/office/drawing/2014/main" id="{268E5A7C-5B8B-4D04-BEE4-B8FA24ED71AA}"/>
              </a:ext>
            </a:extLst>
          </p:cNvPr>
          <p:cNvSpPr>
            <a:spLocks noGrp="1"/>
          </p:cNvSpPr>
          <p:nvPr/>
        </p:nvSpPr>
        <p:spPr>
          <a:xfrm>
            <a:off x="809552" y="2674144"/>
            <a:ext cx="6477000" cy="381000"/>
          </a:xfrm>
          <a:prstGeom prst="rect">
            <a:avLst/>
          </a:prstGeom>
          <a:noFill/>
          <a:ln w="0">
            <a:noFill/>
          </a:ln>
        </p:spPr>
        <p:txBody>
          <a:bodyPr/>
          <a:lstStyle>
            <a:defPPr>
              <a:defRPr sz="2100" b="1">
                <a:solidFill>
                  <a:srgbClr val="007F78"/>
                </a:solidFill>
                <a:latin typeface="Helvetica Neue"/>
                <a:ea typeface="Helvetica Neue"/>
                <a:cs typeface="Helvetica Neue"/>
              </a:defRPr>
            </a:defPPr>
          </a:lstStyle>
          <a:p>
            <a:pPr>
              <a:defRPr sz="2100" b="1">
                <a:solidFill>
                  <a:srgbClr val="007F78"/>
                </a:solidFill>
                <a:latin typeface="Helvetica Neue"/>
                <a:ea typeface="Helvetica Neue"/>
                <a:cs typeface="Helvetica Neue"/>
              </a:defRPr>
            </a:pPr>
            <a:r>
              <a:rPr sz="2100" b="1" dirty="0">
                <a:solidFill>
                  <a:srgbClr val="007F78"/>
                </a:solidFill>
                <a:latin typeface="Helvetica Neue"/>
                <a:ea typeface="Helvetica Neue"/>
                <a:cs typeface="Helvetica Neue"/>
              </a:rPr>
              <a:t>What does it do?</a:t>
            </a:r>
          </a:p>
        </p:txBody>
      </p:sp>
      <p:sp>
        <p:nvSpPr>
          <p:cNvPr id="4" name="Rectangle 3">
            <a:extLst>
              <a:ext uri="{FF2B5EF4-FFF2-40B4-BE49-F238E27FC236}">
                <a16:creationId xmlns:a16="http://schemas.microsoft.com/office/drawing/2014/main" id="{B2322423-39C5-4E94-8AD5-6184AB0C31FE}"/>
              </a:ext>
            </a:extLst>
          </p:cNvPr>
          <p:cNvSpPr>
            <a:spLocks noGrp="1"/>
          </p:cNvSpPr>
          <p:nvPr/>
        </p:nvSpPr>
        <p:spPr>
          <a:xfrm>
            <a:off x="809552" y="3095625"/>
            <a:ext cx="6477000" cy="781050"/>
          </a:xfrm>
          <a:prstGeom prst="rect">
            <a:avLst/>
          </a:prstGeom>
          <a:noFill/>
          <a:ln w="0">
            <a:noFill/>
          </a:ln>
        </p:spPr>
        <p:txBody>
          <a:bodyPr/>
          <a:lstStyle>
            <a:defPPr>
              <a:defRPr sz="1950" b="0">
                <a:solidFill>
                  <a:srgbClr val="102F3C"/>
                </a:solidFill>
                <a:latin typeface="Helvetica Neue"/>
                <a:ea typeface="Helvetica Neue"/>
                <a:cs typeface="Helvetica Neue"/>
              </a:defRPr>
            </a:defPPr>
          </a:lstStyle>
          <a:p>
            <a:pPr>
              <a:defRPr sz="1950" b="0">
                <a:solidFill>
                  <a:srgbClr val="102F3C"/>
                </a:solidFill>
                <a:latin typeface="Helvetica Neue"/>
                <a:ea typeface="Helvetica Neue"/>
                <a:cs typeface="Helvetica Neue"/>
              </a:defRPr>
            </a:pPr>
            <a:r>
              <a:rPr sz="1950" b="0" dirty="0">
                <a:solidFill>
                  <a:srgbClr val="102F3C"/>
                </a:solidFill>
                <a:latin typeface="Helvetica Neue"/>
                <a:ea typeface="Helvetica Neue"/>
                <a:cs typeface="Helvetica Neue"/>
              </a:rPr>
              <a:t>Provides access to published clinical guidelines and reference tools on web and mobile.</a:t>
            </a:r>
          </a:p>
        </p:txBody>
      </p:sp>
      <p:sp>
        <p:nvSpPr>
          <p:cNvPr id="6" name="Rectangle 5">
            <a:extLst>
              <a:ext uri="{FF2B5EF4-FFF2-40B4-BE49-F238E27FC236}">
                <a16:creationId xmlns:a16="http://schemas.microsoft.com/office/drawing/2014/main" id="{7D435910-80AF-404F-9CCC-509DE4837971}"/>
              </a:ext>
            </a:extLst>
          </p:cNvPr>
          <p:cNvSpPr>
            <a:spLocks noGrp="1"/>
          </p:cNvSpPr>
          <p:nvPr/>
        </p:nvSpPr>
        <p:spPr>
          <a:xfrm>
            <a:off x="809552" y="1804987"/>
            <a:ext cx="6477000" cy="781050"/>
          </a:xfrm>
          <a:prstGeom prst="rect">
            <a:avLst/>
          </a:prstGeom>
          <a:noFill/>
          <a:ln w="0">
            <a:noFill/>
          </a:ln>
        </p:spPr>
        <p:txBody>
          <a:bodyPr/>
          <a:lstStyle>
            <a:defPPr>
              <a:defRPr sz="1950" b="0">
                <a:solidFill>
                  <a:srgbClr val="102F3C"/>
                </a:solidFill>
                <a:latin typeface="Helvetica Neue"/>
                <a:ea typeface="Helvetica Neue"/>
                <a:cs typeface="Helvetica Neue"/>
              </a:defRPr>
            </a:defPPr>
          </a:lstStyle>
          <a:p>
            <a:pPr>
              <a:defRPr sz="1950" b="0">
                <a:solidFill>
                  <a:srgbClr val="102F3C"/>
                </a:solidFill>
                <a:latin typeface="Helvetica Neue"/>
                <a:ea typeface="Helvetica Neue"/>
                <a:cs typeface="Helvetica Neue"/>
              </a:defRPr>
            </a:pPr>
            <a:r>
              <a:rPr sz="1950" b="0" dirty="0">
                <a:solidFill>
                  <a:srgbClr val="102F3C"/>
                </a:solidFill>
                <a:latin typeface="Helvetica Neue"/>
                <a:ea typeface="Helvetica Neue"/>
                <a:cs typeface="Helvetica Neue"/>
              </a:rPr>
              <a:t>Difficulty finding relevant guidance and using it where internet access is unreliable.</a:t>
            </a:r>
          </a:p>
        </p:txBody>
      </p:sp>
      <p:sp>
        <p:nvSpPr>
          <p:cNvPr id="7" name="Rectangle 6">
            <a:extLst>
              <a:ext uri="{FF2B5EF4-FFF2-40B4-BE49-F238E27FC236}">
                <a16:creationId xmlns:a16="http://schemas.microsoft.com/office/drawing/2014/main" id="{55366032-98B0-4972-AC99-AFD2A44647EE}"/>
              </a:ext>
            </a:extLst>
          </p:cNvPr>
          <p:cNvSpPr>
            <a:spLocks noGrp="1"/>
          </p:cNvSpPr>
          <p:nvPr/>
        </p:nvSpPr>
        <p:spPr>
          <a:xfrm>
            <a:off x="704850" y="3905250"/>
            <a:ext cx="6477000" cy="381000"/>
          </a:xfrm>
          <a:prstGeom prst="rect">
            <a:avLst/>
          </a:prstGeom>
          <a:noFill/>
          <a:ln w="0">
            <a:noFill/>
          </a:ln>
        </p:spPr>
        <p:txBody>
          <a:bodyPr/>
          <a:lstStyle>
            <a:defPPr>
              <a:defRPr sz="2100" b="1">
                <a:solidFill>
                  <a:srgbClr val="007F78"/>
                </a:solidFill>
                <a:latin typeface="Helvetica Neue"/>
                <a:ea typeface="Helvetica Neue"/>
                <a:cs typeface="Helvetica Neue"/>
              </a:defRPr>
            </a:defPPr>
          </a:lstStyle>
          <a:p>
            <a:pPr>
              <a:defRPr sz="2100" b="1">
                <a:solidFill>
                  <a:srgbClr val="007F78"/>
                </a:solidFill>
                <a:latin typeface="Helvetica Neue"/>
                <a:ea typeface="Helvetica Neue"/>
                <a:cs typeface="Helvetica Neue"/>
              </a:defRPr>
            </a:pPr>
            <a:r>
              <a:rPr sz="2100" b="1" dirty="0">
                <a:solidFill>
                  <a:srgbClr val="007F78"/>
                </a:solidFill>
                <a:latin typeface="Helvetica Neue"/>
                <a:ea typeface="Helvetica Neue"/>
                <a:cs typeface="Helvetica Neue"/>
              </a:rPr>
              <a:t>How does it solve it?</a:t>
            </a:r>
          </a:p>
        </p:txBody>
      </p:sp>
      <p:sp>
        <p:nvSpPr>
          <p:cNvPr id="8" name="Rectangle 7">
            <a:extLst>
              <a:ext uri="{FF2B5EF4-FFF2-40B4-BE49-F238E27FC236}">
                <a16:creationId xmlns:a16="http://schemas.microsoft.com/office/drawing/2014/main" id="{48AA0606-C358-4B2B-9892-866CFE1AC2C5}"/>
              </a:ext>
            </a:extLst>
          </p:cNvPr>
          <p:cNvSpPr>
            <a:spLocks noGrp="1"/>
          </p:cNvSpPr>
          <p:nvPr/>
        </p:nvSpPr>
        <p:spPr>
          <a:xfrm>
            <a:off x="704850" y="4314825"/>
            <a:ext cx="6477000" cy="781050"/>
          </a:xfrm>
          <a:prstGeom prst="rect">
            <a:avLst/>
          </a:prstGeom>
          <a:noFill/>
          <a:ln w="0">
            <a:noFill/>
          </a:ln>
        </p:spPr>
        <p:txBody>
          <a:bodyPr/>
          <a:lstStyle>
            <a:defPPr>
              <a:defRPr sz="1950" b="0">
                <a:solidFill>
                  <a:srgbClr val="102F3C"/>
                </a:solidFill>
                <a:latin typeface="Helvetica Neue"/>
                <a:ea typeface="Helvetica Neue"/>
                <a:cs typeface="Helvetica Neue"/>
              </a:defRPr>
            </a:defPPr>
          </a:lstStyle>
          <a:p>
            <a:pPr>
              <a:defRPr sz="1950" b="0">
                <a:solidFill>
                  <a:srgbClr val="102F3C"/>
                </a:solidFill>
                <a:latin typeface="Helvetica Neue"/>
                <a:ea typeface="Helvetica Neue"/>
                <a:cs typeface="Helvetica Neue"/>
              </a:defRPr>
            </a:pPr>
            <a:r>
              <a:rPr sz="1950" b="0" dirty="0">
                <a:solidFill>
                  <a:srgbClr val="102F3C"/>
                </a:solidFill>
                <a:latin typeface="Helvetica Neue"/>
                <a:ea typeface="Helvetica Neue"/>
                <a:cs typeface="Helvetica Neue"/>
              </a:rPr>
              <a:t>Searchable content, supported offline downloads and a controlled clinical review process.</a:t>
            </a:r>
          </a:p>
        </p:txBody>
      </p:sp>
      <p:sp>
        <p:nvSpPr>
          <p:cNvPr id="9" name="Rectangle 8">
            <a:extLst>
              <a:ext uri="{FF2B5EF4-FFF2-40B4-BE49-F238E27FC236}">
                <a16:creationId xmlns:a16="http://schemas.microsoft.com/office/drawing/2014/main" id="{1B7D034F-0535-47D5-9A09-E5EFDFD1AB1A}"/>
              </a:ext>
            </a:extLst>
          </p:cNvPr>
          <p:cNvSpPr>
            <a:spLocks noGrp="1"/>
          </p:cNvSpPr>
          <p:nvPr/>
        </p:nvSpPr>
        <p:spPr>
          <a:xfrm>
            <a:off x="704850" y="5038725"/>
            <a:ext cx="6477000" cy="381000"/>
          </a:xfrm>
          <a:prstGeom prst="rect">
            <a:avLst/>
          </a:prstGeom>
          <a:noFill/>
          <a:ln w="0">
            <a:noFill/>
          </a:ln>
        </p:spPr>
        <p:txBody>
          <a:bodyPr/>
          <a:lstStyle>
            <a:defPPr>
              <a:defRPr sz="2100" b="1">
                <a:solidFill>
                  <a:srgbClr val="007F78"/>
                </a:solidFill>
                <a:latin typeface="Helvetica Neue"/>
                <a:ea typeface="Helvetica Neue"/>
                <a:cs typeface="Helvetica Neue"/>
              </a:defRPr>
            </a:defPPr>
          </a:lstStyle>
          <a:p>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Intended audience</a:t>
            </a:r>
          </a:p>
        </p:txBody>
      </p:sp>
      <p:sp>
        <p:nvSpPr>
          <p:cNvPr id="10" name="Rectangle 9">
            <a:extLst>
              <a:ext uri="{FF2B5EF4-FFF2-40B4-BE49-F238E27FC236}">
                <a16:creationId xmlns:a16="http://schemas.microsoft.com/office/drawing/2014/main" id="{A59CFB6E-DFE3-4FB9-A668-796B4F7331C2}"/>
              </a:ext>
            </a:extLst>
          </p:cNvPr>
          <p:cNvSpPr>
            <a:spLocks noGrp="1"/>
          </p:cNvSpPr>
          <p:nvPr/>
        </p:nvSpPr>
        <p:spPr>
          <a:xfrm>
            <a:off x="704850" y="5448300"/>
            <a:ext cx="6477000" cy="781050"/>
          </a:xfrm>
          <a:prstGeom prst="rect">
            <a:avLst/>
          </a:prstGeom>
          <a:noFill/>
          <a:ln w="0">
            <a:noFill/>
          </a:ln>
        </p:spPr>
        <p:txBody>
          <a:bodyPr/>
          <a:lstStyle>
            <a:defPPr>
              <a:defRPr sz="1950" b="0">
                <a:solidFill>
                  <a:srgbClr val="102F3C"/>
                </a:solidFill>
                <a:latin typeface="Helvetica Neue"/>
                <a:ea typeface="Helvetica Neue"/>
                <a:cs typeface="Helvetica Neue"/>
              </a:defRPr>
            </a:defPPr>
          </a:lstStyle>
          <a:p>
            <a:pPr>
              <a:defRPr sz="1950" b="0">
                <a:solidFill>
                  <a:srgbClr val="102F3C"/>
                </a:solidFill>
                <a:latin typeface="Helvetica Neue"/>
                <a:ea typeface="Helvetica Neue"/>
                <a:cs typeface="Helvetica Neue"/>
              </a:defRPr>
            </a:pPr>
            <a:r>
              <a:rPr sz="1950" b="0">
                <a:solidFill>
                  <a:srgbClr val="102F3C"/>
                </a:solidFill>
                <a:latin typeface="Helvetica Neue"/>
                <a:ea typeface="Helvetica Neue"/>
                <a:cs typeface="Helvetica Neue"/>
              </a:rPr>
              <a:t>Clinicians and other health workers, clinical reviewers and programme teams.</a:t>
            </a:r>
          </a:p>
        </p:txBody>
      </p:sp>
      <p:pic>
        <p:nvPicPr>
          <p:cNvPr id="11" name="Picture 10">
            <a:extLst>
              <a:ext uri="{FF2B5EF4-FFF2-40B4-BE49-F238E27FC236}">
                <a16:creationId xmlns:a16="http://schemas.microsoft.com/office/drawing/2014/main" id="{E411A3A5-A723-4F25-A890-DB2066EA9C48}"/>
              </a:ext>
            </a:extLst>
          </p:cNvPr>
          <p:cNvPicPr>
            <a:picLocks noChangeAspect="1"/>
          </p:cNvPicPr>
          <p:nvPr/>
        </p:nvPicPr>
        <p:blipFill>
          <a:blip r:embed="rId3"/>
          <a:stretch/>
        </p:blipFill>
        <p:spPr>
          <a:xfrm>
            <a:off x="7762875" y="2471738"/>
            <a:ext cx="3714750" cy="2476500"/>
          </a:xfrm>
          <a:prstGeom prst="rect">
            <a:avLst/>
          </a:prstGeom>
        </p:spPr>
      </p:pic>
      <p:sp>
        <p:nvSpPr>
          <p:cNvPr id="13" name="Rectangle 12">
            <a:extLst>
              <a:ext uri="{FF2B5EF4-FFF2-40B4-BE49-F238E27FC236}">
                <a16:creationId xmlns:a16="http://schemas.microsoft.com/office/drawing/2014/main" id="{85187D9F-BDAD-6BE7-2224-0DDF3DDF104F}"/>
              </a:ext>
            </a:extLst>
          </p:cNvPr>
          <p:cNvSpPr>
            <a:spLocks noGrp="1"/>
          </p:cNvSpPr>
          <p:nvPr/>
        </p:nvSpPr>
        <p:spPr>
          <a:xfrm>
            <a:off x="809552" y="1290637"/>
            <a:ext cx="6477000" cy="381000"/>
          </a:xfrm>
          <a:prstGeom prst="rect">
            <a:avLst/>
          </a:prstGeom>
          <a:noFill/>
          <a:ln w="0">
            <a:noFill/>
          </a:ln>
        </p:spPr>
        <p:txBody>
          <a:bodyPr/>
          <a:lstStyle>
            <a:defPPr>
              <a:defRPr sz="2100" b="1">
                <a:solidFill>
                  <a:srgbClr val="007F78"/>
                </a:solidFill>
                <a:latin typeface="Helvetica Neue"/>
                <a:ea typeface="Helvetica Neue"/>
                <a:cs typeface="Helvetica Neue"/>
              </a:defRPr>
            </a:defPPr>
          </a:lstStyle>
          <a:p>
            <a:pPr>
              <a:defRPr sz="2100" b="1">
                <a:solidFill>
                  <a:srgbClr val="007F78"/>
                </a:solidFill>
                <a:latin typeface="Helvetica Neue"/>
                <a:ea typeface="Helvetica Neue"/>
                <a:cs typeface="Helvetica Neue"/>
              </a:defRPr>
            </a:pPr>
            <a:r>
              <a:rPr sz="2100" b="1" dirty="0">
                <a:solidFill>
                  <a:srgbClr val="007F78"/>
                </a:solidFill>
                <a:latin typeface="Helvetica Neue"/>
                <a:ea typeface="Helvetica Neue"/>
                <a:cs typeface="Helvetica Neue"/>
              </a:rPr>
              <a:t>What does it solve?</a:t>
            </a:r>
          </a:p>
        </p:txBody>
      </p:sp>
    </p:spTree>
    <p:extLst>
      <p:ext uri="{BB962C8B-B14F-4D97-AF65-F5344CB8AC3E}">
        <p14:creationId xmlns:p14="http://schemas.microsoft.com/office/powerpoint/2010/main" val="729376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24B79E4-DA4F-46CF-B08D-C49545C4E7CD}"/>
              </a:ext>
            </a:extLst>
          </p:cNvPr>
          <p:cNvSpPr>
            <a:spLocks noGrp="1"/>
          </p:cNvSpPr>
          <p:nvPr/>
        </p:nvSpPr>
        <p:spPr>
          <a:xfrm>
            <a:off x="685800" y="552450"/>
            <a:ext cx="10820400" cy="857250"/>
          </a:xfrm>
          <a:prstGeom prst="rect">
            <a:avLst/>
          </a:prstGeom>
          <a:noFill/>
          <a:ln w="0">
            <a:noFill/>
          </a:ln>
        </p:spPr>
        <p:txBody>
          <a:bodyPr/>
          <a:lstStyle>
            <a:defPPr>
              <a:defRPr sz="3600" b="1">
                <a:solidFill>
                  <a:srgbClr val="102F3C"/>
                </a:solidFill>
                <a:latin typeface="Helvetica Neue"/>
                <a:ea typeface="Helvetica Neue"/>
                <a:cs typeface="Helvetica Neue"/>
              </a:defRPr>
            </a:defPPr>
          </a:lstStyle>
          <a:p>
            <a:pPr>
              <a:defRPr sz="3600" b="1">
                <a:solidFill>
                  <a:srgbClr val="102F3C"/>
                </a:solidFill>
                <a:latin typeface="Helvetica Neue"/>
                <a:ea typeface="Helvetica Neue"/>
                <a:cs typeface="Helvetica Neue"/>
              </a:defRPr>
            </a:pPr>
            <a:r>
              <a:rPr sz="3600" b="1">
                <a:solidFill>
                  <a:srgbClr val="102F3C"/>
                </a:solidFill>
                <a:latin typeface="Helvetica Neue"/>
                <a:ea typeface="Helvetica Neue"/>
                <a:cs typeface="Helvetica Neue"/>
              </a:rPr>
              <a:t>How it works</a:t>
            </a:r>
          </a:p>
        </p:txBody>
      </p:sp>
      <p:sp>
        <p:nvSpPr>
          <p:cNvPr id="2" name="Rectangle 1">
            <a:extLst>
              <a:ext uri="{FF2B5EF4-FFF2-40B4-BE49-F238E27FC236}">
                <a16:creationId xmlns:a16="http://schemas.microsoft.com/office/drawing/2014/main" id="{05BFAE25-ABEB-4507-AE9B-1F1BCA250D68}"/>
              </a:ext>
            </a:extLst>
          </p:cNvPr>
          <p:cNvSpPr>
            <a:spLocks noGrp="1"/>
          </p:cNvSpPr>
          <p:nvPr/>
        </p:nvSpPr>
        <p:spPr>
          <a:xfrm>
            <a:off x="11096625" y="857250"/>
            <a:ext cx="457200" cy="266700"/>
          </a:xfrm>
          <a:prstGeom prst="rect">
            <a:avLst/>
          </a:prstGeom>
          <a:noFill/>
          <a:ln w="0">
            <a:noFill/>
          </a:ln>
        </p:spPr>
        <p:txBody>
          <a:bodyPr/>
          <a:lstStyle>
            <a:defPPr>
              <a:defRPr sz="1275" b="0">
                <a:solidFill>
                  <a:srgbClr val="516871"/>
                </a:solidFill>
                <a:latin typeface="Helvetica Neue"/>
                <a:ea typeface="Helvetica Neue"/>
                <a:cs typeface="Helvetica Neue"/>
              </a:defRPr>
            </a:defPPr>
          </a:lstStyle>
          <a:p>
            <a:pPr>
              <a:defRPr sz="1275" b="0">
                <a:solidFill>
                  <a:srgbClr val="516871"/>
                </a:solidFill>
                <a:latin typeface="Helvetica Neue"/>
                <a:ea typeface="Helvetica Neue"/>
                <a:cs typeface="Helvetica Neue"/>
              </a:defRPr>
            </a:pPr>
            <a:r>
              <a:rPr sz="1275" b="0">
                <a:solidFill>
                  <a:srgbClr val="516871"/>
                </a:solidFill>
                <a:latin typeface="Helvetica Neue"/>
                <a:ea typeface="Helvetica Neue"/>
                <a:cs typeface="Helvetica Neue"/>
              </a:rPr>
              <a:t>02</a:t>
            </a:r>
          </a:p>
        </p:txBody>
      </p:sp>
      <p:sp>
        <p:nvSpPr>
          <p:cNvPr id="3" name="Rectangle 2">
            <a:extLst>
              <a:ext uri="{FF2B5EF4-FFF2-40B4-BE49-F238E27FC236}">
                <a16:creationId xmlns:a16="http://schemas.microsoft.com/office/drawing/2014/main" id="{1C34F1FF-BB5D-410B-BD2F-6605E4279F3E}"/>
              </a:ext>
            </a:extLst>
          </p:cNvPr>
          <p:cNvSpPr>
            <a:spLocks noGrp="1"/>
          </p:cNvSpPr>
          <p:nvPr/>
        </p:nvSpPr>
        <p:spPr>
          <a:xfrm>
            <a:off x="704850" y="1504950"/>
            <a:ext cx="5095875" cy="381000"/>
          </a:xfrm>
          <a:prstGeom prst="rect">
            <a:avLst/>
          </a:prstGeom>
          <a:noFill/>
          <a:ln w="0">
            <a:noFill/>
          </a:ln>
        </p:spPr>
        <p:txBody>
          <a:bodyPr/>
          <a:lstStyle>
            <a:defPPr>
              <a:defRPr sz="2100" b="1">
                <a:solidFill>
                  <a:srgbClr val="007F78"/>
                </a:solidFill>
                <a:latin typeface="Helvetica Neue"/>
                <a:ea typeface="Helvetica Neue"/>
                <a:cs typeface="Helvetica Neue"/>
              </a:defRPr>
            </a:defPPr>
          </a:lstStyle>
          <a:p>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1   Visit the MoH website</a:t>
            </a:r>
          </a:p>
        </p:txBody>
      </p:sp>
      <p:sp>
        <p:nvSpPr>
          <p:cNvPr id="4" name="Rectangle 3">
            <a:extLst>
              <a:ext uri="{FF2B5EF4-FFF2-40B4-BE49-F238E27FC236}">
                <a16:creationId xmlns:a16="http://schemas.microsoft.com/office/drawing/2014/main" id="{E43A507D-8E91-4F84-B492-11E337424582}"/>
              </a:ext>
            </a:extLst>
          </p:cNvPr>
          <p:cNvSpPr>
            <a:spLocks noGrp="1"/>
          </p:cNvSpPr>
          <p:nvPr/>
        </p:nvSpPr>
        <p:spPr>
          <a:xfrm>
            <a:off x="704850" y="1905000"/>
            <a:ext cx="5095875" cy="638175"/>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dirty="0">
                <a:solidFill>
                  <a:srgbClr val="102F3C"/>
                </a:solidFill>
                <a:latin typeface="Helvetica Neue"/>
                <a:ea typeface="Helvetica Neue"/>
                <a:cs typeface="Helvetica Neue"/>
              </a:rPr>
              <a:t>Open </a:t>
            </a:r>
            <a:r>
              <a:rPr lang="en-US" sz="1800" b="0" dirty="0">
                <a:solidFill>
                  <a:srgbClr val="102F3C"/>
                </a:solidFill>
                <a:latin typeface="Helvetica Neue"/>
                <a:ea typeface="Helvetica Neue"/>
                <a:cs typeface="Helvetica Neue"/>
              </a:rPr>
              <a:t>https://</a:t>
            </a:r>
            <a:r>
              <a:rPr sz="1800" b="0" dirty="0" err="1">
                <a:solidFill>
                  <a:srgbClr val="102F3C"/>
                </a:solidFill>
                <a:latin typeface="Helvetica Neue"/>
                <a:ea typeface="Helvetica Neue"/>
                <a:cs typeface="Helvetica Neue"/>
              </a:rPr>
              <a:t>health.go.ug</a:t>
            </a:r>
            <a:r>
              <a:rPr sz="1800" b="0" dirty="0">
                <a:solidFill>
                  <a:srgbClr val="102F3C"/>
                </a:solidFill>
                <a:latin typeface="Helvetica Neue"/>
                <a:ea typeface="Helvetica Neue"/>
                <a:cs typeface="Helvetica Neue"/>
              </a:rPr>
              <a:t> and select </a:t>
            </a:r>
            <a:r>
              <a:rPr sz="1800" b="0" dirty="0" err="1">
                <a:solidFill>
                  <a:srgbClr val="102F3C"/>
                </a:solidFill>
                <a:latin typeface="Helvetica Neue"/>
                <a:ea typeface="Helvetica Neue"/>
                <a:cs typeface="Helvetica Neue"/>
              </a:rPr>
              <a:t>MediGuide</a:t>
            </a:r>
            <a:r>
              <a:rPr sz="1800" b="0" dirty="0">
                <a:solidFill>
                  <a:srgbClr val="102F3C"/>
                </a:solidFill>
                <a:latin typeface="Helvetica Neue"/>
                <a:ea typeface="Helvetica Neue"/>
                <a:cs typeface="Helvetica Neue"/>
              </a:rPr>
              <a:t>.</a:t>
            </a:r>
          </a:p>
        </p:txBody>
      </p:sp>
      <p:sp>
        <p:nvSpPr>
          <p:cNvPr id="5" name="Rectangle 4">
            <a:extLst>
              <a:ext uri="{FF2B5EF4-FFF2-40B4-BE49-F238E27FC236}">
                <a16:creationId xmlns:a16="http://schemas.microsoft.com/office/drawing/2014/main" id="{415D6425-6CCB-42D9-8133-072AC98FED87}"/>
              </a:ext>
            </a:extLst>
          </p:cNvPr>
          <p:cNvSpPr>
            <a:spLocks noGrp="1"/>
          </p:cNvSpPr>
          <p:nvPr/>
        </p:nvSpPr>
        <p:spPr>
          <a:xfrm>
            <a:off x="6419850" y="1504950"/>
            <a:ext cx="5095875" cy="381000"/>
          </a:xfrm>
          <a:prstGeom prst="rect">
            <a:avLst/>
          </a:prstGeom>
          <a:noFill/>
          <a:ln w="0">
            <a:noFill/>
          </a:ln>
        </p:spPr>
        <p:txBody>
          <a:bodyPr/>
          <a:lstStyle>
            <a:defPPr>
              <a:defRPr sz="2100" b="1">
                <a:solidFill>
                  <a:srgbClr val="007F78"/>
                </a:solidFill>
                <a:latin typeface="Helvetica Neue"/>
                <a:ea typeface="Helvetica Neue"/>
                <a:cs typeface="Helvetica Neue"/>
              </a:defRPr>
            </a:defPPr>
          </a:lstStyle>
          <a:p>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2   Open MediGuide</a:t>
            </a:r>
          </a:p>
        </p:txBody>
      </p:sp>
      <p:sp>
        <p:nvSpPr>
          <p:cNvPr id="6" name="Rectangle 5">
            <a:extLst>
              <a:ext uri="{FF2B5EF4-FFF2-40B4-BE49-F238E27FC236}">
                <a16:creationId xmlns:a16="http://schemas.microsoft.com/office/drawing/2014/main" id="{3B37F3A9-A978-441E-90B9-707D5B99A682}"/>
              </a:ext>
            </a:extLst>
          </p:cNvPr>
          <p:cNvSpPr>
            <a:spLocks noGrp="1"/>
          </p:cNvSpPr>
          <p:nvPr/>
        </p:nvSpPr>
        <p:spPr>
          <a:xfrm>
            <a:off x="6419850" y="1905000"/>
            <a:ext cx="5095875" cy="638175"/>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Select Browse guidelines to reach the library.</a:t>
            </a:r>
          </a:p>
        </p:txBody>
      </p:sp>
      <p:pic>
        <p:nvPicPr>
          <p:cNvPr id="8" name="Picture 7">
            <a:extLst>
              <a:ext uri="{FF2B5EF4-FFF2-40B4-BE49-F238E27FC236}">
                <a16:creationId xmlns:a16="http://schemas.microsoft.com/office/drawing/2014/main" id="{8D3FB409-289E-4B36-96AC-6B73481700CC}"/>
              </a:ext>
            </a:extLst>
          </p:cNvPr>
          <p:cNvPicPr>
            <a:picLocks noChangeAspect="1"/>
          </p:cNvPicPr>
          <p:nvPr/>
        </p:nvPicPr>
        <p:blipFill>
          <a:blip r:embed="rId3"/>
          <a:srcRect t="7000" b="42000"/>
          <a:stretch/>
        </p:blipFill>
        <p:spPr>
          <a:xfrm>
            <a:off x="6419850" y="2447925"/>
            <a:ext cx="5048250" cy="1571625"/>
          </a:xfrm>
          <a:prstGeom prst="rect">
            <a:avLst/>
          </a:prstGeom>
        </p:spPr>
      </p:pic>
      <p:sp>
        <p:nvSpPr>
          <p:cNvPr id="9" name="Rectangle 8">
            <a:extLst>
              <a:ext uri="{FF2B5EF4-FFF2-40B4-BE49-F238E27FC236}">
                <a16:creationId xmlns:a16="http://schemas.microsoft.com/office/drawing/2014/main" id="{42B76629-C79E-43E7-B99D-9FEDAF8174A0}"/>
              </a:ext>
            </a:extLst>
          </p:cNvPr>
          <p:cNvSpPr>
            <a:spLocks noGrp="1"/>
          </p:cNvSpPr>
          <p:nvPr/>
        </p:nvSpPr>
        <p:spPr>
          <a:xfrm>
            <a:off x="704850" y="4114800"/>
            <a:ext cx="5095875" cy="381000"/>
          </a:xfrm>
          <a:prstGeom prst="rect">
            <a:avLst/>
          </a:prstGeom>
          <a:noFill/>
          <a:ln w="0">
            <a:noFill/>
          </a:ln>
        </p:spPr>
        <p:txBody>
          <a:bodyPr/>
          <a:lstStyle>
            <a:defPPr>
              <a:defRPr sz="2100" b="1">
                <a:solidFill>
                  <a:srgbClr val="007F78"/>
                </a:solidFill>
                <a:latin typeface="Helvetica Neue"/>
                <a:ea typeface="Helvetica Neue"/>
                <a:cs typeface="Helvetica Neue"/>
              </a:defRPr>
            </a:defPPr>
          </a:lstStyle>
          <a:p>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3   Search for a guideline</a:t>
            </a:r>
          </a:p>
        </p:txBody>
      </p:sp>
      <p:sp>
        <p:nvSpPr>
          <p:cNvPr id="10" name="Rectangle 9">
            <a:extLst>
              <a:ext uri="{FF2B5EF4-FFF2-40B4-BE49-F238E27FC236}">
                <a16:creationId xmlns:a16="http://schemas.microsoft.com/office/drawing/2014/main" id="{B0EAD275-0B79-4F6E-9B97-2FCE7969C69C}"/>
              </a:ext>
            </a:extLst>
          </p:cNvPr>
          <p:cNvSpPr>
            <a:spLocks noGrp="1"/>
          </p:cNvSpPr>
          <p:nvPr/>
        </p:nvSpPr>
        <p:spPr>
          <a:xfrm>
            <a:off x="704850" y="4514850"/>
            <a:ext cx="5095875" cy="638175"/>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Search “stan” for Standard Case Definitions.</a:t>
            </a:r>
          </a:p>
        </p:txBody>
      </p:sp>
      <p:sp>
        <p:nvSpPr>
          <p:cNvPr id="11" name="Rectangle 10">
            <a:extLst>
              <a:ext uri="{FF2B5EF4-FFF2-40B4-BE49-F238E27FC236}">
                <a16:creationId xmlns:a16="http://schemas.microsoft.com/office/drawing/2014/main" id="{0137A58C-2EAE-41CC-A194-C5E3AD4493E5}"/>
              </a:ext>
            </a:extLst>
          </p:cNvPr>
          <p:cNvSpPr>
            <a:spLocks noGrp="1"/>
          </p:cNvSpPr>
          <p:nvPr/>
        </p:nvSpPr>
        <p:spPr>
          <a:xfrm>
            <a:off x="6419850" y="4114800"/>
            <a:ext cx="5095875" cy="381000"/>
          </a:xfrm>
          <a:prstGeom prst="rect">
            <a:avLst/>
          </a:prstGeom>
          <a:noFill/>
          <a:ln w="0">
            <a:noFill/>
          </a:ln>
        </p:spPr>
        <p:txBody>
          <a:bodyPr/>
          <a:lstStyle>
            <a:defPPr>
              <a:defRPr sz="2100" b="1">
                <a:solidFill>
                  <a:srgbClr val="007F78"/>
                </a:solidFill>
                <a:latin typeface="Helvetica Neue"/>
                <a:ea typeface="Helvetica Neue"/>
                <a:cs typeface="Helvetica Neue"/>
              </a:defRPr>
            </a:defPPr>
          </a:lstStyle>
          <a:p>
            <a:pPr>
              <a:defRPr sz="2100" b="1">
                <a:solidFill>
                  <a:srgbClr val="007F78"/>
                </a:solidFill>
                <a:latin typeface="Helvetica Neue"/>
                <a:ea typeface="Helvetica Neue"/>
                <a:cs typeface="Helvetica Neue"/>
              </a:defRPr>
            </a:pPr>
            <a:r>
              <a:rPr sz="2100" b="1">
                <a:solidFill>
                  <a:srgbClr val="007F78"/>
                </a:solidFill>
                <a:latin typeface="Helvetica Neue"/>
                <a:ea typeface="Helvetica Neue"/>
                <a:cs typeface="Helvetica Neue"/>
              </a:rPr>
              <a:t>4   Open and read</a:t>
            </a:r>
          </a:p>
        </p:txBody>
      </p:sp>
      <p:sp>
        <p:nvSpPr>
          <p:cNvPr id="12" name="Rectangle 11">
            <a:extLst>
              <a:ext uri="{FF2B5EF4-FFF2-40B4-BE49-F238E27FC236}">
                <a16:creationId xmlns:a16="http://schemas.microsoft.com/office/drawing/2014/main" id="{FBD4AE08-8E63-4C2C-B2DB-C7AD73D696BC}"/>
              </a:ext>
            </a:extLst>
          </p:cNvPr>
          <p:cNvSpPr>
            <a:spLocks noGrp="1"/>
          </p:cNvSpPr>
          <p:nvPr/>
        </p:nvSpPr>
        <p:spPr>
          <a:xfrm>
            <a:off x="6419850" y="4514850"/>
            <a:ext cx="5095875" cy="638175"/>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Click Read guideline and navigate its sections.</a:t>
            </a:r>
          </a:p>
        </p:txBody>
      </p:sp>
      <p:pic>
        <p:nvPicPr>
          <p:cNvPr id="17" name="Picture 16">
            <a:extLst>
              <a:ext uri="{FF2B5EF4-FFF2-40B4-BE49-F238E27FC236}">
                <a16:creationId xmlns:a16="http://schemas.microsoft.com/office/drawing/2014/main" id="{0750FEAA-C703-441F-FB59-8954BDF392E9}"/>
              </a:ext>
            </a:extLst>
          </p:cNvPr>
          <p:cNvPicPr>
            <a:picLocks noChangeAspect="1"/>
          </p:cNvPicPr>
          <p:nvPr/>
        </p:nvPicPr>
        <p:blipFill>
          <a:blip r:embed="rId4"/>
          <a:stretch>
            <a:fillRect/>
          </a:stretch>
        </p:blipFill>
        <p:spPr>
          <a:xfrm>
            <a:off x="918472" y="4833937"/>
            <a:ext cx="4210050" cy="2029426"/>
          </a:xfrm>
          <a:prstGeom prst="rect">
            <a:avLst/>
          </a:prstGeom>
        </p:spPr>
      </p:pic>
      <p:pic>
        <p:nvPicPr>
          <p:cNvPr id="18" name="Picture 17">
            <a:extLst>
              <a:ext uri="{FF2B5EF4-FFF2-40B4-BE49-F238E27FC236}">
                <a16:creationId xmlns:a16="http://schemas.microsoft.com/office/drawing/2014/main" id="{B7941922-2129-34CF-3B48-DA9B7703D4A1}"/>
              </a:ext>
            </a:extLst>
          </p:cNvPr>
          <p:cNvPicPr>
            <a:picLocks noChangeAspect="1"/>
          </p:cNvPicPr>
          <p:nvPr/>
        </p:nvPicPr>
        <p:blipFill>
          <a:blip r:embed="rId5"/>
          <a:stretch>
            <a:fillRect/>
          </a:stretch>
        </p:blipFill>
        <p:spPr>
          <a:xfrm>
            <a:off x="657225" y="2205037"/>
            <a:ext cx="4471297" cy="1909763"/>
          </a:xfrm>
          <a:prstGeom prst="rect">
            <a:avLst/>
          </a:prstGeom>
        </p:spPr>
      </p:pic>
      <p:pic>
        <p:nvPicPr>
          <p:cNvPr id="19" name="Picture 18">
            <a:extLst>
              <a:ext uri="{FF2B5EF4-FFF2-40B4-BE49-F238E27FC236}">
                <a16:creationId xmlns:a16="http://schemas.microsoft.com/office/drawing/2014/main" id="{52D1F618-3592-D5E8-1D3A-51B17BDF58AF}"/>
              </a:ext>
            </a:extLst>
          </p:cNvPr>
          <p:cNvPicPr>
            <a:picLocks noChangeAspect="1"/>
          </p:cNvPicPr>
          <p:nvPr/>
        </p:nvPicPr>
        <p:blipFill>
          <a:blip r:embed="rId6"/>
          <a:stretch>
            <a:fillRect/>
          </a:stretch>
        </p:blipFill>
        <p:spPr>
          <a:xfrm>
            <a:off x="6919440" y="4828574"/>
            <a:ext cx="3990540" cy="1891072"/>
          </a:xfrm>
          <a:prstGeom prst="rect">
            <a:avLst/>
          </a:prstGeom>
        </p:spPr>
      </p:pic>
    </p:spTree>
    <p:extLst>
      <p:ext uri="{BB962C8B-B14F-4D97-AF65-F5344CB8AC3E}">
        <p14:creationId xmlns:p14="http://schemas.microsoft.com/office/powerpoint/2010/main" val="2029378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D9A6EF1-7F1D-40D3-AAD1-BD3E83EDD1A8}"/>
              </a:ext>
            </a:extLst>
          </p:cNvPr>
          <p:cNvSpPr>
            <a:spLocks noGrp="1"/>
          </p:cNvSpPr>
          <p:nvPr/>
        </p:nvSpPr>
        <p:spPr>
          <a:xfrm>
            <a:off x="685800" y="552450"/>
            <a:ext cx="10820400" cy="857250"/>
          </a:xfrm>
          <a:prstGeom prst="rect">
            <a:avLst/>
          </a:prstGeom>
          <a:noFill/>
          <a:ln w="0">
            <a:noFill/>
          </a:ln>
        </p:spPr>
        <p:txBody>
          <a:bodyPr/>
          <a:lstStyle>
            <a:defPPr>
              <a:defRPr sz="3600" b="1">
                <a:solidFill>
                  <a:srgbClr val="102F3C"/>
                </a:solidFill>
                <a:latin typeface="Helvetica Neue"/>
                <a:ea typeface="Helvetica Neue"/>
                <a:cs typeface="Helvetica Neue"/>
              </a:defRPr>
            </a:defPPr>
          </a:lstStyle>
          <a:p>
            <a:pPr>
              <a:defRPr sz="3600" b="1">
                <a:solidFill>
                  <a:srgbClr val="102F3C"/>
                </a:solidFill>
                <a:latin typeface="Helvetica Neue"/>
                <a:ea typeface="Helvetica Neue"/>
                <a:cs typeface="Helvetica Neue"/>
              </a:defRPr>
            </a:pPr>
            <a:r>
              <a:rPr sz="3600" b="1">
                <a:solidFill>
                  <a:srgbClr val="102F3C"/>
                </a:solidFill>
                <a:latin typeface="Helvetica Neue"/>
                <a:ea typeface="Helvetica Neue"/>
                <a:cs typeface="Helvetica Neue"/>
              </a:rPr>
              <a:t>How to access</a:t>
            </a:r>
          </a:p>
        </p:txBody>
      </p:sp>
      <p:sp>
        <p:nvSpPr>
          <p:cNvPr id="2" name="Rectangle 1">
            <a:extLst>
              <a:ext uri="{FF2B5EF4-FFF2-40B4-BE49-F238E27FC236}">
                <a16:creationId xmlns:a16="http://schemas.microsoft.com/office/drawing/2014/main" id="{C971A701-4A75-4DC4-B8CC-1DCC0719C95F}"/>
              </a:ext>
            </a:extLst>
          </p:cNvPr>
          <p:cNvSpPr>
            <a:spLocks noGrp="1"/>
          </p:cNvSpPr>
          <p:nvPr/>
        </p:nvSpPr>
        <p:spPr>
          <a:xfrm>
            <a:off x="11096625" y="6267450"/>
            <a:ext cx="457200" cy="266700"/>
          </a:xfrm>
          <a:prstGeom prst="rect">
            <a:avLst/>
          </a:prstGeom>
          <a:noFill/>
          <a:ln w="0">
            <a:noFill/>
          </a:ln>
        </p:spPr>
        <p:txBody>
          <a:bodyPr/>
          <a:lstStyle>
            <a:defPPr>
              <a:defRPr sz="1275" b="0">
                <a:solidFill>
                  <a:srgbClr val="516871"/>
                </a:solidFill>
                <a:latin typeface="Helvetica Neue"/>
                <a:ea typeface="Helvetica Neue"/>
                <a:cs typeface="Helvetica Neue"/>
              </a:defRPr>
            </a:defPPr>
          </a:lstStyle>
          <a:p>
            <a:pPr>
              <a:defRPr sz="1275" b="0">
                <a:solidFill>
                  <a:srgbClr val="516871"/>
                </a:solidFill>
                <a:latin typeface="Helvetica Neue"/>
                <a:ea typeface="Helvetica Neue"/>
                <a:cs typeface="Helvetica Neue"/>
              </a:defRPr>
            </a:pPr>
            <a:r>
              <a:rPr sz="1275" b="0">
                <a:solidFill>
                  <a:srgbClr val="516871"/>
                </a:solidFill>
                <a:latin typeface="Helvetica Neue"/>
                <a:ea typeface="Helvetica Neue"/>
                <a:cs typeface="Helvetica Neue"/>
              </a:rPr>
              <a:t>03</a:t>
            </a:r>
          </a:p>
        </p:txBody>
      </p:sp>
      <p:sp>
        <p:nvSpPr>
          <p:cNvPr id="3" name="Rectangle 2">
            <a:extLst>
              <a:ext uri="{FF2B5EF4-FFF2-40B4-BE49-F238E27FC236}">
                <a16:creationId xmlns:a16="http://schemas.microsoft.com/office/drawing/2014/main" id="{0D2BF9DB-D399-4509-BACC-22E309CEFED3}"/>
              </a:ext>
            </a:extLst>
          </p:cNvPr>
          <p:cNvSpPr>
            <a:spLocks noGrp="1"/>
          </p:cNvSpPr>
          <p:nvPr/>
        </p:nvSpPr>
        <p:spPr>
          <a:xfrm>
            <a:off x="704850" y="1724025"/>
            <a:ext cx="7620000" cy="428625"/>
          </a:xfrm>
          <a:prstGeom prst="rect">
            <a:avLst/>
          </a:prstGeom>
          <a:noFill/>
          <a:ln w="0">
            <a:noFill/>
          </a:ln>
        </p:spPr>
        <p:txBody>
          <a:bodyPr/>
          <a:lstStyle>
            <a:defPPr>
              <a:defRPr sz="2175" b="1">
                <a:solidFill>
                  <a:srgbClr val="007F78"/>
                </a:solidFill>
                <a:latin typeface="Helvetica Neue"/>
                <a:ea typeface="Helvetica Neue"/>
                <a:cs typeface="Helvetica Neue"/>
              </a:defRPr>
            </a:defPPr>
          </a:lstStyle>
          <a:p>
            <a:pPr>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Public website</a:t>
            </a:r>
          </a:p>
        </p:txBody>
      </p:sp>
      <p:sp>
        <p:nvSpPr>
          <p:cNvPr id="4" name="Rectangle 3">
            <a:extLst>
              <a:ext uri="{FF2B5EF4-FFF2-40B4-BE49-F238E27FC236}">
                <a16:creationId xmlns:a16="http://schemas.microsoft.com/office/drawing/2014/main" id="{A93748D0-1F61-448B-9F00-EE1DD6D0061B}"/>
              </a:ext>
            </a:extLst>
          </p:cNvPr>
          <p:cNvSpPr>
            <a:spLocks noGrp="1"/>
          </p:cNvSpPr>
          <p:nvPr/>
        </p:nvSpPr>
        <p:spPr>
          <a:xfrm>
            <a:off x="704850" y="2181225"/>
            <a:ext cx="7620000" cy="428625"/>
          </a:xfrm>
          <a:prstGeom prst="rect">
            <a:avLst/>
          </a:prstGeom>
          <a:noFill/>
          <a:ln w="0">
            <a:noFill/>
          </a:ln>
        </p:spPr>
        <p:txBody>
          <a:bodyPr/>
          <a:lstStyle>
            <a:defPPr>
              <a:defRPr sz="1800" b="0">
                <a:solidFill>
                  <a:srgbClr val="007F78"/>
                </a:solidFill>
                <a:latin typeface="Helvetica Neue"/>
                <a:ea typeface="Helvetica Neue"/>
                <a:cs typeface="Helvetica Neue"/>
              </a:defRPr>
            </a:defPPr>
          </a:lstStyle>
          <a:p>
            <a:pPr>
              <a:defRPr sz="1800" b="0">
                <a:solidFill>
                  <a:srgbClr val="007F78"/>
                </a:solidFill>
                <a:latin typeface="Helvetica Neue"/>
                <a:ea typeface="Helvetica Neue"/>
                <a:cs typeface="Helvetica Neue"/>
              </a:defRPr>
            </a:pPr>
            <a:r>
              <a:rPr sz="1800" b="0">
                <a:solidFill>
                  <a:srgbClr val="007F78"/>
                </a:solidFill>
                <a:latin typeface="Helvetica Neue"/>
                <a:ea typeface="Helvetica Neue"/>
                <a:cs typeface="Helvetica Neue"/>
                <a:hlinkClick r:id="rId3"/>
              </a:rPr>
              <a:t>https://mediguide.health.go.ug</a:t>
            </a:r>
          </a:p>
        </p:txBody>
      </p:sp>
      <p:sp>
        <p:nvSpPr>
          <p:cNvPr id="5" name="Rectangle 4">
            <a:extLst>
              <a:ext uri="{FF2B5EF4-FFF2-40B4-BE49-F238E27FC236}">
                <a16:creationId xmlns:a16="http://schemas.microsoft.com/office/drawing/2014/main" id="{8CCF562E-2BA7-4653-9E05-AAA560AE3935}"/>
              </a:ext>
            </a:extLst>
          </p:cNvPr>
          <p:cNvSpPr>
            <a:spLocks noGrp="1"/>
          </p:cNvSpPr>
          <p:nvPr/>
        </p:nvSpPr>
        <p:spPr>
          <a:xfrm>
            <a:off x="704850" y="2657475"/>
            <a:ext cx="7620000" cy="523875"/>
          </a:xfrm>
          <a:prstGeom prst="rect">
            <a:avLst/>
          </a:prstGeom>
          <a:noFill/>
          <a:ln w="0">
            <a:noFill/>
          </a:ln>
        </p:spPr>
        <p:txBody>
          <a:bodyPr/>
          <a:lstStyle>
            <a:defPPr>
              <a:defRPr sz="1875" b="0">
                <a:solidFill>
                  <a:srgbClr val="102F3C"/>
                </a:solidFill>
                <a:latin typeface="Helvetica Neue"/>
                <a:ea typeface="Helvetica Neue"/>
                <a:cs typeface="Helvetica Neue"/>
              </a:defRPr>
            </a:defPPr>
          </a:lstStyle>
          <a:p>
            <a:pPr>
              <a:defRPr sz="1875" b="0">
                <a:solidFill>
                  <a:srgbClr val="102F3C"/>
                </a:solidFill>
                <a:latin typeface="Helvetica Neue"/>
                <a:ea typeface="Helvetica Neue"/>
                <a:cs typeface="Helvetica Neue"/>
              </a:defRPr>
            </a:pPr>
            <a:r>
              <a:rPr sz="1875" b="0">
                <a:solidFill>
                  <a:srgbClr val="102F3C"/>
                </a:solidFill>
                <a:latin typeface="Helvetica Neue"/>
                <a:ea typeface="Helvetica Neue"/>
                <a:cs typeface="Helvetica Neue"/>
              </a:rPr>
              <a:t>Browse published clinical guidelines.</a:t>
            </a:r>
          </a:p>
        </p:txBody>
      </p:sp>
      <p:sp>
        <p:nvSpPr>
          <p:cNvPr id="6" name="Rectangle 5">
            <a:extLst>
              <a:ext uri="{FF2B5EF4-FFF2-40B4-BE49-F238E27FC236}">
                <a16:creationId xmlns:a16="http://schemas.microsoft.com/office/drawing/2014/main" id="{4164B8C4-8B85-4EB8-913D-2646812A0FC9}"/>
              </a:ext>
            </a:extLst>
          </p:cNvPr>
          <p:cNvSpPr>
            <a:spLocks noGrp="1"/>
          </p:cNvSpPr>
          <p:nvPr/>
        </p:nvSpPr>
        <p:spPr>
          <a:xfrm>
            <a:off x="704850" y="3190875"/>
            <a:ext cx="7620000" cy="428625"/>
          </a:xfrm>
          <a:prstGeom prst="rect">
            <a:avLst/>
          </a:prstGeom>
          <a:noFill/>
          <a:ln w="0">
            <a:noFill/>
          </a:ln>
        </p:spPr>
        <p:txBody>
          <a:bodyPr/>
          <a:lstStyle>
            <a:defPPr>
              <a:defRPr sz="2175" b="1">
                <a:solidFill>
                  <a:srgbClr val="007F78"/>
                </a:solidFill>
                <a:latin typeface="Helvetica Neue"/>
                <a:ea typeface="Helvetica Neue"/>
                <a:cs typeface="Helvetica Neue"/>
              </a:defRPr>
            </a:defPPr>
          </a:lstStyle>
          <a:p>
            <a:pPr>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Administration and content creation</a:t>
            </a:r>
          </a:p>
        </p:txBody>
      </p:sp>
      <p:sp>
        <p:nvSpPr>
          <p:cNvPr id="7" name="Rectangle 6">
            <a:extLst>
              <a:ext uri="{FF2B5EF4-FFF2-40B4-BE49-F238E27FC236}">
                <a16:creationId xmlns:a16="http://schemas.microsoft.com/office/drawing/2014/main" id="{9537A3BC-D055-48C8-8438-277F7AB126C4}"/>
              </a:ext>
            </a:extLst>
          </p:cNvPr>
          <p:cNvSpPr>
            <a:spLocks noGrp="1"/>
          </p:cNvSpPr>
          <p:nvPr/>
        </p:nvSpPr>
        <p:spPr>
          <a:xfrm>
            <a:off x="704850" y="3648075"/>
            <a:ext cx="7620000" cy="428625"/>
          </a:xfrm>
          <a:prstGeom prst="rect">
            <a:avLst/>
          </a:prstGeom>
          <a:noFill/>
          <a:ln w="0">
            <a:noFill/>
          </a:ln>
        </p:spPr>
        <p:txBody>
          <a:bodyPr/>
          <a:lstStyle>
            <a:defPPr>
              <a:defRPr sz="1800" b="0">
                <a:solidFill>
                  <a:srgbClr val="007F78"/>
                </a:solidFill>
                <a:latin typeface="Helvetica Neue"/>
                <a:ea typeface="Helvetica Neue"/>
                <a:cs typeface="Helvetica Neue"/>
              </a:defRPr>
            </a:defPPr>
          </a:lstStyle>
          <a:p>
            <a:pPr>
              <a:defRPr sz="1800" b="0">
                <a:solidFill>
                  <a:srgbClr val="007F78"/>
                </a:solidFill>
                <a:latin typeface="Helvetica Neue"/>
                <a:ea typeface="Helvetica Neue"/>
                <a:cs typeface="Helvetica Neue"/>
              </a:defRPr>
            </a:pPr>
            <a:r>
              <a:rPr sz="1800" b="0">
                <a:solidFill>
                  <a:srgbClr val="007F78"/>
                </a:solidFill>
                <a:latin typeface="Helvetica Neue"/>
                <a:ea typeface="Helvetica Neue"/>
                <a:cs typeface="Helvetica Neue"/>
                <a:hlinkClick r:id="rId4"/>
              </a:rPr>
              <a:t>https://mediguide.health.go.ug/admin</a:t>
            </a:r>
          </a:p>
        </p:txBody>
      </p:sp>
      <p:sp>
        <p:nvSpPr>
          <p:cNvPr id="8" name="Rectangle 7">
            <a:extLst>
              <a:ext uri="{FF2B5EF4-FFF2-40B4-BE49-F238E27FC236}">
                <a16:creationId xmlns:a16="http://schemas.microsoft.com/office/drawing/2014/main" id="{2E55C9BA-F2C0-41B3-9D1E-56AAC992ACC1}"/>
              </a:ext>
            </a:extLst>
          </p:cNvPr>
          <p:cNvSpPr>
            <a:spLocks noGrp="1"/>
          </p:cNvSpPr>
          <p:nvPr/>
        </p:nvSpPr>
        <p:spPr>
          <a:xfrm>
            <a:off x="704850" y="4124325"/>
            <a:ext cx="7620000" cy="523875"/>
          </a:xfrm>
          <a:prstGeom prst="rect">
            <a:avLst/>
          </a:prstGeom>
          <a:noFill/>
          <a:ln w="0">
            <a:noFill/>
          </a:ln>
        </p:spPr>
        <p:txBody>
          <a:bodyPr/>
          <a:lstStyle>
            <a:defPPr>
              <a:defRPr sz="1875" b="0">
                <a:solidFill>
                  <a:srgbClr val="102F3C"/>
                </a:solidFill>
                <a:latin typeface="Helvetica Neue"/>
                <a:ea typeface="Helvetica Neue"/>
                <a:cs typeface="Helvetica Neue"/>
              </a:defRPr>
            </a:defPPr>
          </a:lstStyle>
          <a:p>
            <a:pPr>
              <a:defRPr sz="1875" b="0">
                <a:solidFill>
                  <a:srgbClr val="102F3C"/>
                </a:solidFill>
                <a:latin typeface="Helvetica Neue"/>
                <a:ea typeface="Helvetica Neue"/>
                <a:cs typeface="Helvetica Neue"/>
              </a:defRPr>
            </a:pPr>
            <a:r>
              <a:rPr sz="1875" b="0">
                <a:solidFill>
                  <a:srgbClr val="102F3C"/>
                </a:solidFill>
                <a:latin typeface="Helvetica Neue"/>
                <a:ea typeface="Helvetica Neue"/>
                <a:cs typeface="Helvetica Neue"/>
              </a:rPr>
              <a:t>For administrators, content creators and reviewers.</a:t>
            </a:r>
          </a:p>
        </p:txBody>
      </p:sp>
      <p:sp>
        <p:nvSpPr>
          <p:cNvPr id="9" name="Rectangle 8">
            <a:extLst>
              <a:ext uri="{FF2B5EF4-FFF2-40B4-BE49-F238E27FC236}">
                <a16:creationId xmlns:a16="http://schemas.microsoft.com/office/drawing/2014/main" id="{80031274-8A73-4DA7-AB31-A94B3FE1C24B}"/>
              </a:ext>
            </a:extLst>
          </p:cNvPr>
          <p:cNvSpPr>
            <a:spLocks noGrp="1"/>
          </p:cNvSpPr>
          <p:nvPr/>
        </p:nvSpPr>
        <p:spPr>
          <a:xfrm>
            <a:off x="704850" y="4657725"/>
            <a:ext cx="7620000" cy="428625"/>
          </a:xfrm>
          <a:prstGeom prst="rect">
            <a:avLst/>
          </a:prstGeom>
          <a:noFill/>
          <a:ln w="0">
            <a:noFill/>
          </a:ln>
        </p:spPr>
        <p:txBody>
          <a:bodyPr/>
          <a:lstStyle>
            <a:defPPr>
              <a:defRPr sz="2175" b="1">
                <a:solidFill>
                  <a:srgbClr val="007F78"/>
                </a:solidFill>
                <a:latin typeface="Helvetica Neue"/>
                <a:ea typeface="Helvetica Neue"/>
                <a:cs typeface="Helvetica Neue"/>
              </a:defRPr>
            </a:defPPr>
          </a:lstStyle>
          <a:p>
            <a:pPr>
              <a:defRPr sz="2175" b="1">
                <a:solidFill>
                  <a:srgbClr val="007F78"/>
                </a:solidFill>
                <a:latin typeface="Helvetica Neue"/>
                <a:ea typeface="Helvetica Neue"/>
                <a:cs typeface="Helvetica Neue"/>
              </a:defRPr>
            </a:pPr>
            <a:r>
              <a:rPr sz="2175" b="1">
                <a:solidFill>
                  <a:srgbClr val="007F78"/>
                </a:solidFill>
                <a:latin typeface="Helvetica Neue"/>
                <a:ea typeface="Helvetica Neue"/>
                <a:cs typeface="Helvetica Neue"/>
              </a:rPr>
              <a:t>Google Play download</a:t>
            </a:r>
          </a:p>
        </p:txBody>
      </p:sp>
      <p:sp>
        <p:nvSpPr>
          <p:cNvPr id="10" name="Rectangle 9">
            <a:extLst>
              <a:ext uri="{FF2B5EF4-FFF2-40B4-BE49-F238E27FC236}">
                <a16:creationId xmlns:a16="http://schemas.microsoft.com/office/drawing/2014/main" id="{25F6D48B-778C-4907-BB89-8BACB9765F41}"/>
              </a:ext>
            </a:extLst>
          </p:cNvPr>
          <p:cNvSpPr>
            <a:spLocks noGrp="1"/>
          </p:cNvSpPr>
          <p:nvPr/>
        </p:nvSpPr>
        <p:spPr>
          <a:xfrm>
            <a:off x="704850" y="5114925"/>
            <a:ext cx="7620000" cy="704850"/>
          </a:xfrm>
          <a:prstGeom prst="rect">
            <a:avLst/>
          </a:prstGeom>
          <a:noFill/>
          <a:ln w="0">
            <a:noFill/>
          </a:ln>
        </p:spPr>
        <p:txBody>
          <a:bodyPr/>
          <a:lstStyle>
            <a:defPPr>
              <a:defRPr sz="1800" b="0">
                <a:solidFill>
                  <a:srgbClr val="007F78"/>
                </a:solidFill>
                <a:latin typeface="Helvetica Neue"/>
                <a:ea typeface="Helvetica Neue"/>
                <a:cs typeface="Helvetica Neue"/>
              </a:defRPr>
            </a:defPPr>
          </a:lstStyle>
          <a:p>
            <a:pPr>
              <a:defRPr sz="1800" b="0">
                <a:solidFill>
                  <a:srgbClr val="007F78"/>
                </a:solidFill>
                <a:latin typeface="Helvetica Neue"/>
                <a:ea typeface="Helvetica Neue"/>
                <a:cs typeface="Helvetica Neue"/>
              </a:defRPr>
            </a:pPr>
            <a:r>
              <a:rPr sz="1800" b="0">
                <a:solidFill>
                  <a:srgbClr val="007F78"/>
                </a:solidFill>
                <a:latin typeface="Helvetica Neue"/>
                <a:ea typeface="Helvetica Neue"/>
                <a:cs typeface="Helvetica Neue"/>
                <a:hlinkClick r:id="rId5"/>
              </a:rPr>
              <a:t>https://play.google.com/store/apps/details?id=com.mediguide.ug</a:t>
            </a:r>
          </a:p>
        </p:txBody>
      </p:sp>
      <p:sp>
        <p:nvSpPr>
          <p:cNvPr id="11" name="Rectangle 10">
            <a:extLst>
              <a:ext uri="{FF2B5EF4-FFF2-40B4-BE49-F238E27FC236}">
                <a16:creationId xmlns:a16="http://schemas.microsoft.com/office/drawing/2014/main" id="{B35FD7EE-566C-4B83-9857-860B93C0EA98}"/>
              </a:ext>
            </a:extLst>
          </p:cNvPr>
          <p:cNvSpPr>
            <a:spLocks noGrp="1"/>
          </p:cNvSpPr>
          <p:nvPr/>
        </p:nvSpPr>
        <p:spPr>
          <a:xfrm>
            <a:off x="704850" y="5867400"/>
            <a:ext cx="7620000" cy="523875"/>
          </a:xfrm>
          <a:prstGeom prst="rect">
            <a:avLst/>
          </a:prstGeom>
          <a:noFill/>
          <a:ln w="0">
            <a:noFill/>
          </a:ln>
        </p:spPr>
        <p:txBody>
          <a:bodyPr/>
          <a:lstStyle>
            <a:defPPr>
              <a:defRPr sz="1875" b="0">
                <a:solidFill>
                  <a:srgbClr val="102F3C"/>
                </a:solidFill>
                <a:latin typeface="Helvetica Neue"/>
                <a:ea typeface="Helvetica Neue"/>
                <a:cs typeface="Helvetica Neue"/>
              </a:defRPr>
            </a:defPPr>
          </a:lstStyle>
          <a:p>
            <a:pPr>
              <a:defRPr sz="1875" b="0">
                <a:solidFill>
                  <a:srgbClr val="102F3C"/>
                </a:solidFill>
                <a:latin typeface="Helvetica Neue"/>
                <a:ea typeface="Helvetica Neue"/>
                <a:cs typeface="Helvetica Neue"/>
              </a:defRPr>
            </a:pPr>
            <a:r>
              <a:rPr sz="1875" b="0">
                <a:solidFill>
                  <a:srgbClr val="102F3C"/>
                </a:solidFill>
                <a:latin typeface="Helvetica Neue"/>
                <a:ea typeface="Helvetica Neue"/>
                <a:cs typeface="Helvetica Neue"/>
              </a:rPr>
              <a:t>Download the MediGuide Android app.</a:t>
            </a:r>
          </a:p>
        </p:txBody>
      </p:sp>
      <p:pic>
        <p:nvPicPr>
          <p:cNvPr id="12" name="Picture 11">
            <a:extLst>
              <a:ext uri="{FF2B5EF4-FFF2-40B4-BE49-F238E27FC236}">
                <a16:creationId xmlns:a16="http://schemas.microsoft.com/office/drawing/2014/main" id="{A696472C-0BB3-461B-A3B9-8936E2C9BD6D}"/>
              </a:ext>
            </a:extLst>
          </p:cNvPr>
          <p:cNvPicPr>
            <a:picLocks noChangeAspect="1"/>
          </p:cNvPicPr>
          <p:nvPr/>
        </p:nvPicPr>
        <p:blipFill>
          <a:blip r:embed="rId6"/>
          <a:stretch/>
        </p:blipFill>
        <p:spPr>
          <a:xfrm>
            <a:off x="9113217" y="1647825"/>
            <a:ext cx="1995140" cy="4324350"/>
          </a:xfrm>
          <a:prstGeom prst="rect">
            <a:avLst/>
          </a:prstGeom>
        </p:spPr>
      </p:pic>
      <p:sp>
        <p:nvSpPr>
          <p:cNvPr id="13" name="Rectangle 12">
            <a:extLst>
              <a:ext uri="{FF2B5EF4-FFF2-40B4-BE49-F238E27FC236}">
                <a16:creationId xmlns:a16="http://schemas.microsoft.com/office/drawing/2014/main" id="{9F6ADFEC-50A1-439D-AE90-84F539794F48}"/>
              </a:ext>
            </a:extLst>
          </p:cNvPr>
          <p:cNvSpPr>
            <a:spLocks noGrp="1"/>
          </p:cNvSpPr>
          <p:nvPr/>
        </p:nvSpPr>
        <p:spPr>
          <a:xfrm>
            <a:off x="8753475" y="6105525"/>
            <a:ext cx="2857500" cy="304800"/>
          </a:xfrm>
          <a:prstGeom prst="rect">
            <a:avLst/>
          </a:prstGeom>
          <a:noFill/>
          <a:ln w="0">
            <a:noFill/>
          </a:ln>
        </p:spPr>
        <p:txBody>
          <a:bodyPr/>
          <a:lstStyle>
            <a:defPPr>
              <a:defRPr sz="1350" b="0">
                <a:solidFill>
                  <a:srgbClr val="516871"/>
                </a:solidFill>
                <a:latin typeface="Helvetica Neue"/>
                <a:ea typeface="Helvetica Neue"/>
                <a:cs typeface="Helvetica Neue"/>
              </a:defRPr>
            </a:defPPr>
          </a:lstStyle>
          <a:p>
            <a:pPr>
              <a:defRPr sz="1350" b="0">
                <a:solidFill>
                  <a:srgbClr val="516871"/>
                </a:solidFill>
                <a:latin typeface="Helvetica Neue"/>
                <a:ea typeface="Helvetica Neue"/>
                <a:cs typeface="Helvetica Neue"/>
              </a:defRPr>
            </a:pPr>
            <a:r>
              <a:rPr sz="1350" b="0">
                <a:solidFill>
                  <a:srgbClr val="516871"/>
                </a:solidFill>
                <a:latin typeface="Helvetica Neue"/>
                <a:ea typeface="Helvetica Neue"/>
                <a:cs typeface="Helvetica Neue"/>
              </a:rPr>
              <a:t>App screen with sample content</a:t>
            </a:r>
          </a:p>
        </p:txBody>
      </p:sp>
    </p:spTree>
    <p:extLst>
      <p:ext uri="{BB962C8B-B14F-4D97-AF65-F5344CB8AC3E}">
        <p14:creationId xmlns:p14="http://schemas.microsoft.com/office/powerpoint/2010/main" val="70684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5"/>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1BB364A-F551-429E-AEA2-C195F8C80427}"/>
              </a:ext>
            </a:extLst>
          </p:cNvPr>
          <p:cNvSpPr>
            <a:spLocks noGrp="1"/>
          </p:cNvSpPr>
          <p:nvPr/>
        </p:nvSpPr>
        <p:spPr>
          <a:xfrm>
            <a:off x="685800" y="552450"/>
            <a:ext cx="10820400" cy="857250"/>
          </a:xfrm>
          <a:prstGeom prst="rect">
            <a:avLst/>
          </a:prstGeom>
          <a:noFill/>
          <a:ln w="0">
            <a:noFill/>
          </a:ln>
        </p:spPr>
        <p:txBody>
          <a:bodyPr/>
          <a:lstStyle>
            <a:defPPr>
              <a:defRPr sz="3600" b="1">
                <a:solidFill>
                  <a:srgbClr val="102F3C"/>
                </a:solidFill>
                <a:latin typeface="Helvetica Neue"/>
                <a:ea typeface="Helvetica Neue"/>
                <a:cs typeface="Helvetica Neue"/>
              </a:defRPr>
            </a:defPPr>
          </a:lstStyle>
          <a:p>
            <a:pPr>
              <a:defRPr sz="3600" b="1">
                <a:solidFill>
                  <a:srgbClr val="102F3C"/>
                </a:solidFill>
                <a:latin typeface="Helvetica Neue"/>
                <a:ea typeface="Helvetica Neue"/>
                <a:cs typeface="Helvetica Neue"/>
              </a:defRPr>
            </a:pPr>
            <a:r>
              <a:rPr sz="3600" b="1">
                <a:solidFill>
                  <a:srgbClr val="102F3C"/>
                </a:solidFill>
                <a:latin typeface="Helvetica Neue"/>
                <a:ea typeface="Helvetica Neue"/>
                <a:cs typeface="Helvetica Neue"/>
              </a:rPr>
              <a:t>Demo</a:t>
            </a:r>
          </a:p>
        </p:txBody>
      </p:sp>
      <p:sp>
        <p:nvSpPr>
          <p:cNvPr id="2" name="Rectangle 1">
            <a:extLst>
              <a:ext uri="{FF2B5EF4-FFF2-40B4-BE49-F238E27FC236}">
                <a16:creationId xmlns:a16="http://schemas.microsoft.com/office/drawing/2014/main" id="{ABD6A0AA-DE20-4519-B3AC-7E2F166979BF}"/>
              </a:ext>
            </a:extLst>
          </p:cNvPr>
          <p:cNvSpPr>
            <a:spLocks noGrp="1"/>
          </p:cNvSpPr>
          <p:nvPr/>
        </p:nvSpPr>
        <p:spPr>
          <a:xfrm>
            <a:off x="11096625" y="6267450"/>
            <a:ext cx="457200" cy="266700"/>
          </a:xfrm>
          <a:prstGeom prst="rect">
            <a:avLst/>
          </a:prstGeom>
          <a:noFill/>
          <a:ln w="0">
            <a:noFill/>
          </a:ln>
        </p:spPr>
        <p:txBody>
          <a:bodyPr/>
          <a:lstStyle>
            <a:defPPr>
              <a:defRPr sz="1275" b="0">
                <a:solidFill>
                  <a:srgbClr val="516871"/>
                </a:solidFill>
                <a:latin typeface="Helvetica Neue"/>
                <a:ea typeface="Helvetica Neue"/>
                <a:cs typeface="Helvetica Neue"/>
              </a:defRPr>
            </a:defPPr>
          </a:lstStyle>
          <a:p>
            <a:pPr>
              <a:defRPr sz="1275" b="0">
                <a:solidFill>
                  <a:srgbClr val="516871"/>
                </a:solidFill>
                <a:latin typeface="Helvetica Neue"/>
                <a:ea typeface="Helvetica Neue"/>
                <a:cs typeface="Helvetica Neue"/>
              </a:defRPr>
            </a:pPr>
            <a:r>
              <a:rPr sz="1275" b="0">
                <a:solidFill>
                  <a:srgbClr val="516871"/>
                </a:solidFill>
                <a:latin typeface="Helvetica Neue"/>
                <a:ea typeface="Helvetica Neue"/>
                <a:cs typeface="Helvetica Neue"/>
              </a:rPr>
              <a:t>04</a:t>
            </a:r>
          </a:p>
        </p:txBody>
      </p:sp>
      <p:sp>
        <p:nvSpPr>
          <p:cNvPr id="3" name="Rectangle 2">
            <a:extLst>
              <a:ext uri="{FF2B5EF4-FFF2-40B4-BE49-F238E27FC236}">
                <a16:creationId xmlns:a16="http://schemas.microsoft.com/office/drawing/2014/main" id="{86734711-AA04-4674-ADC4-9B3868E4F1AF}"/>
              </a:ext>
            </a:extLst>
          </p:cNvPr>
          <p:cNvSpPr>
            <a:spLocks noGrp="1"/>
          </p:cNvSpPr>
          <p:nvPr/>
        </p:nvSpPr>
        <p:spPr>
          <a:xfrm>
            <a:off x="704850" y="1695450"/>
            <a:ext cx="4095750" cy="428625"/>
          </a:xfrm>
          <a:prstGeom prst="rect">
            <a:avLst/>
          </a:prstGeom>
          <a:noFill/>
          <a:ln w="0">
            <a:noFill/>
          </a:ln>
        </p:spPr>
        <p:txBody>
          <a:bodyPr/>
          <a:lstStyle>
            <a:defPPr>
              <a:defRPr sz="2250" b="1">
                <a:solidFill>
                  <a:srgbClr val="007F78"/>
                </a:solidFill>
                <a:latin typeface="Helvetica Neue"/>
                <a:ea typeface="Helvetica Neue"/>
                <a:cs typeface="Helvetica Neue"/>
              </a:defRPr>
            </a:defPPr>
          </a:lstStyle>
          <a:p>
            <a:pPr>
              <a:defRPr sz="2250" b="1">
                <a:solidFill>
                  <a:srgbClr val="007F78"/>
                </a:solidFill>
                <a:latin typeface="Helvetica Neue"/>
                <a:ea typeface="Helvetica Neue"/>
                <a:cs typeface="Helvetica Neue"/>
              </a:defRPr>
            </a:pPr>
            <a:r>
              <a:rPr sz="2250" b="1">
                <a:solidFill>
                  <a:srgbClr val="007F78"/>
                </a:solidFill>
                <a:latin typeface="Helvetica Neue"/>
                <a:ea typeface="Helvetica Neue"/>
                <a:cs typeface="Helvetica Neue"/>
              </a:rPr>
              <a:t>Public website</a:t>
            </a:r>
          </a:p>
        </p:txBody>
      </p:sp>
      <p:pic>
        <p:nvPicPr>
          <p:cNvPr id="4" name="Picture 3">
            <a:extLst>
              <a:ext uri="{FF2B5EF4-FFF2-40B4-BE49-F238E27FC236}">
                <a16:creationId xmlns:a16="http://schemas.microsoft.com/office/drawing/2014/main" id="{09450090-EC0B-4E6F-B415-8DEDFD61C6CC}"/>
              </a:ext>
            </a:extLst>
          </p:cNvPr>
          <p:cNvPicPr>
            <a:picLocks noChangeAspect="1"/>
          </p:cNvPicPr>
          <p:nvPr/>
        </p:nvPicPr>
        <p:blipFill>
          <a:blip r:embed="rId3"/>
          <a:stretch/>
        </p:blipFill>
        <p:spPr>
          <a:xfrm>
            <a:off x="704850" y="2325801"/>
            <a:ext cx="4114800" cy="2520723"/>
          </a:xfrm>
          <a:prstGeom prst="rect">
            <a:avLst/>
          </a:prstGeom>
        </p:spPr>
      </p:pic>
      <p:sp>
        <p:nvSpPr>
          <p:cNvPr id="5" name="Rectangle 4">
            <a:extLst>
              <a:ext uri="{FF2B5EF4-FFF2-40B4-BE49-F238E27FC236}">
                <a16:creationId xmlns:a16="http://schemas.microsoft.com/office/drawing/2014/main" id="{443CD713-41F7-4B18-AEEE-78C8A1E8DB93}"/>
              </a:ext>
            </a:extLst>
          </p:cNvPr>
          <p:cNvSpPr>
            <a:spLocks noGrp="1"/>
          </p:cNvSpPr>
          <p:nvPr/>
        </p:nvSpPr>
        <p:spPr>
          <a:xfrm>
            <a:off x="704850" y="5210175"/>
            <a:ext cx="4095750" cy="857250"/>
          </a:xfrm>
          <a:prstGeom prst="rect">
            <a:avLst/>
          </a:prstGeom>
          <a:noFill/>
          <a:ln w="0">
            <a:noFill/>
          </a:ln>
        </p:spPr>
        <p:txBody>
          <a:bodyPr/>
          <a:lstStyle>
            <a:defPPr>
              <a:defRPr sz="1950" b="0">
                <a:solidFill>
                  <a:srgbClr val="102F3C"/>
                </a:solidFill>
                <a:latin typeface="Helvetica Neue"/>
                <a:ea typeface="Helvetica Neue"/>
                <a:cs typeface="Helvetica Neue"/>
              </a:defRPr>
            </a:defPPr>
          </a:lstStyle>
          <a:p>
            <a:pPr>
              <a:defRPr sz="1950" b="0">
                <a:solidFill>
                  <a:srgbClr val="102F3C"/>
                </a:solidFill>
                <a:latin typeface="Helvetica Neue"/>
                <a:ea typeface="Helvetica Neue"/>
                <a:cs typeface="Helvetica Neue"/>
              </a:defRPr>
            </a:pPr>
            <a:r>
              <a:rPr sz="1950" b="0">
                <a:solidFill>
                  <a:srgbClr val="102F3C"/>
                </a:solidFill>
                <a:latin typeface="Helvetica Neue"/>
                <a:ea typeface="Helvetica Neue"/>
                <a:cs typeface="Helvetica Neue"/>
              </a:rPr>
              <a:t>Browse and read published clinical guidance.</a:t>
            </a:r>
          </a:p>
        </p:txBody>
      </p:sp>
      <p:sp>
        <p:nvSpPr>
          <p:cNvPr id="6" name="Rectangle 5">
            <a:extLst>
              <a:ext uri="{FF2B5EF4-FFF2-40B4-BE49-F238E27FC236}">
                <a16:creationId xmlns:a16="http://schemas.microsoft.com/office/drawing/2014/main" id="{3B04139C-4B63-4E61-A043-5D5C6B585487}"/>
              </a:ext>
            </a:extLst>
          </p:cNvPr>
          <p:cNvSpPr>
            <a:spLocks noGrp="1"/>
          </p:cNvSpPr>
          <p:nvPr/>
        </p:nvSpPr>
        <p:spPr>
          <a:xfrm>
            <a:off x="5219700" y="1695450"/>
            <a:ext cx="2095500" cy="428625"/>
          </a:xfrm>
          <a:prstGeom prst="rect">
            <a:avLst/>
          </a:prstGeom>
          <a:noFill/>
          <a:ln w="0">
            <a:noFill/>
          </a:ln>
        </p:spPr>
        <p:txBody>
          <a:bodyPr/>
          <a:lstStyle>
            <a:defPPr>
              <a:defRPr sz="2250" b="1">
                <a:solidFill>
                  <a:srgbClr val="007F78"/>
                </a:solidFill>
                <a:latin typeface="Helvetica Neue"/>
                <a:ea typeface="Helvetica Neue"/>
                <a:cs typeface="Helvetica Neue"/>
              </a:defRPr>
            </a:defPPr>
          </a:lstStyle>
          <a:p>
            <a:pPr>
              <a:defRPr sz="2250" b="1">
                <a:solidFill>
                  <a:srgbClr val="007F78"/>
                </a:solidFill>
                <a:latin typeface="Helvetica Neue"/>
                <a:ea typeface="Helvetica Neue"/>
                <a:cs typeface="Helvetica Neue"/>
              </a:defRPr>
            </a:pPr>
            <a:r>
              <a:rPr sz="2250" b="1">
                <a:solidFill>
                  <a:srgbClr val="007F78"/>
                </a:solidFill>
                <a:latin typeface="Helvetica Neue"/>
                <a:ea typeface="Helvetica Neue"/>
                <a:cs typeface="Helvetica Neue"/>
              </a:rPr>
              <a:t>Mobile app</a:t>
            </a:r>
          </a:p>
        </p:txBody>
      </p:sp>
      <p:pic>
        <p:nvPicPr>
          <p:cNvPr id="7" name="Picture 6">
            <a:extLst>
              <a:ext uri="{FF2B5EF4-FFF2-40B4-BE49-F238E27FC236}">
                <a16:creationId xmlns:a16="http://schemas.microsoft.com/office/drawing/2014/main" id="{F46EFB5E-E4C8-4A07-83D7-4545C36F3FB5}"/>
              </a:ext>
            </a:extLst>
          </p:cNvPr>
          <p:cNvPicPr>
            <a:picLocks noChangeAspect="1"/>
          </p:cNvPicPr>
          <p:nvPr/>
        </p:nvPicPr>
        <p:blipFill>
          <a:blip r:embed="rId4"/>
          <a:stretch/>
        </p:blipFill>
        <p:spPr>
          <a:xfrm>
            <a:off x="5318926" y="2219325"/>
            <a:ext cx="1744649" cy="3781425"/>
          </a:xfrm>
          <a:prstGeom prst="rect">
            <a:avLst/>
          </a:prstGeom>
        </p:spPr>
      </p:pic>
      <p:sp>
        <p:nvSpPr>
          <p:cNvPr id="8" name="Rectangle 7">
            <a:extLst>
              <a:ext uri="{FF2B5EF4-FFF2-40B4-BE49-F238E27FC236}">
                <a16:creationId xmlns:a16="http://schemas.microsoft.com/office/drawing/2014/main" id="{1E0EB934-358E-42B1-ACF1-BE34394AEAF2}"/>
              </a:ext>
            </a:extLst>
          </p:cNvPr>
          <p:cNvSpPr>
            <a:spLocks noGrp="1"/>
          </p:cNvSpPr>
          <p:nvPr/>
        </p:nvSpPr>
        <p:spPr>
          <a:xfrm>
            <a:off x="5238750" y="6105525"/>
            <a:ext cx="2190750" cy="285750"/>
          </a:xfrm>
          <a:prstGeom prst="rect">
            <a:avLst/>
          </a:prstGeom>
          <a:noFill/>
          <a:ln w="0">
            <a:noFill/>
          </a:ln>
        </p:spPr>
        <p:txBody>
          <a:bodyPr/>
          <a:lstStyle>
            <a:defPPr>
              <a:defRPr sz="1350" b="0">
                <a:solidFill>
                  <a:srgbClr val="516871"/>
                </a:solidFill>
                <a:latin typeface="Helvetica Neue"/>
                <a:ea typeface="Helvetica Neue"/>
                <a:cs typeface="Helvetica Neue"/>
              </a:defRPr>
            </a:defPPr>
          </a:lstStyle>
          <a:p>
            <a:pPr>
              <a:defRPr sz="1350" b="0">
                <a:solidFill>
                  <a:srgbClr val="516871"/>
                </a:solidFill>
                <a:latin typeface="Helvetica Neue"/>
                <a:ea typeface="Helvetica Neue"/>
                <a:cs typeface="Helvetica Neue"/>
              </a:defRPr>
            </a:pPr>
            <a:r>
              <a:rPr sz="1350" b="0">
                <a:solidFill>
                  <a:srgbClr val="516871"/>
                </a:solidFill>
                <a:latin typeface="Helvetica Neue"/>
                <a:ea typeface="Helvetica Neue"/>
                <a:cs typeface="Helvetica Neue"/>
              </a:rPr>
              <a:t>Sample app content</a:t>
            </a:r>
          </a:p>
        </p:txBody>
      </p:sp>
      <p:sp>
        <p:nvSpPr>
          <p:cNvPr id="9" name="Rectangle 8">
            <a:extLst>
              <a:ext uri="{FF2B5EF4-FFF2-40B4-BE49-F238E27FC236}">
                <a16:creationId xmlns:a16="http://schemas.microsoft.com/office/drawing/2014/main" id="{D19C8F9A-49A8-47D7-9D89-09A55BEB07E8}"/>
              </a:ext>
            </a:extLst>
          </p:cNvPr>
          <p:cNvSpPr>
            <a:spLocks noGrp="1"/>
          </p:cNvSpPr>
          <p:nvPr/>
        </p:nvSpPr>
        <p:spPr>
          <a:xfrm>
            <a:off x="7562850" y="1695450"/>
            <a:ext cx="4000500" cy="428625"/>
          </a:xfrm>
          <a:prstGeom prst="rect">
            <a:avLst/>
          </a:prstGeom>
          <a:noFill/>
          <a:ln w="0">
            <a:noFill/>
          </a:ln>
        </p:spPr>
        <p:txBody>
          <a:bodyPr/>
          <a:lstStyle>
            <a:defPPr>
              <a:defRPr sz="2250" b="1">
                <a:solidFill>
                  <a:srgbClr val="007F78"/>
                </a:solidFill>
                <a:latin typeface="Helvetica Neue"/>
                <a:ea typeface="Helvetica Neue"/>
                <a:cs typeface="Helvetica Neue"/>
              </a:defRPr>
            </a:defPPr>
          </a:lstStyle>
          <a:p>
            <a:pPr>
              <a:defRPr sz="2250" b="1">
                <a:solidFill>
                  <a:srgbClr val="007F78"/>
                </a:solidFill>
                <a:latin typeface="Helvetica Neue"/>
                <a:ea typeface="Helvetica Neue"/>
                <a:cs typeface="Helvetica Neue"/>
              </a:defRPr>
            </a:pPr>
            <a:r>
              <a:rPr sz="2250" b="1">
                <a:solidFill>
                  <a:srgbClr val="007F78"/>
                </a:solidFill>
                <a:latin typeface="Helvetica Neue"/>
                <a:ea typeface="Helvetica Neue"/>
                <a:cs typeface="Helvetica Neue"/>
              </a:rPr>
              <a:t>Staff dashboard</a:t>
            </a:r>
          </a:p>
        </p:txBody>
      </p:sp>
      <p:pic>
        <p:nvPicPr>
          <p:cNvPr id="10" name="Picture 9">
            <a:extLst>
              <a:ext uri="{FF2B5EF4-FFF2-40B4-BE49-F238E27FC236}">
                <a16:creationId xmlns:a16="http://schemas.microsoft.com/office/drawing/2014/main" id="{4266C546-2830-4A41-A819-0CFEE28EB3C0}"/>
              </a:ext>
            </a:extLst>
          </p:cNvPr>
          <p:cNvPicPr>
            <a:picLocks noChangeAspect="1"/>
          </p:cNvPicPr>
          <p:nvPr/>
        </p:nvPicPr>
        <p:blipFill>
          <a:blip r:embed="rId5"/>
          <a:stretch/>
        </p:blipFill>
        <p:spPr>
          <a:xfrm>
            <a:off x="7562850" y="2306878"/>
            <a:ext cx="3943350" cy="2415693"/>
          </a:xfrm>
          <a:prstGeom prst="rect">
            <a:avLst/>
          </a:prstGeom>
        </p:spPr>
      </p:pic>
      <p:sp>
        <p:nvSpPr>
          <p:cNvPr id="11" name="Rectangle 10">
            <a:extLst>
              <a:ext uri="{FF2B5EF4-FFF2-40B4-BE49-F238E27FC236}">
                <a16:creationId xmlns:a16="http://schemas.microsoft.com/office/drawing/2014/main" id="{55F53978-907A-457D-9141-409B2BB79DC9}"/>
              </a:ext>
            </a:extLst>
          </p:cNvPr>
          <p:cNvSpPr>
            <a:spLocks noGrp="1"/>
          </p:cNvSpPr>
          <p:nvPr/>
        </p:nvSpPr>
        <p:spPr>
          <a:xfrm>
            <a:off x="7562850" y="5162550"/>
            <a:ext cx="1762125" cy="952500"/>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Sign in to manage and publish content.</a:t>
            </a:r>
          </a:p>
        </p:txBody>
      </p:sp>
      <p:pic>
        <p:nvPicPr>
          <p:cNvPr id="12" name="Picture 11">
            <a:extLst>
              <a:ext uri="{FF2B5EF4-FFF2-40B4-BE49-F238E27FC236}">
                <a16:creationId xmlns:a16="http://schemas.microsoft.com/office/drawing/2014/main" id="{97C3300B-1062-4853-B3CC-EA9819F8F643}"/>
              </a:ext>
            </a:extLst>
          </p:cNvPr>
          <p:cNvPicPr>
            <a:picLocks noChangeAspect="1"/>
          </p:cNvPicPr>
          <p:nvPr/>
        </p:nvPicPr>
        <p:blipFill>
          <a:blip r:embed="rId6"/>
          <a:srcRect l="38500" t="33500" r="38500" b="26500"/>
          <a:stretch/>
        </p:blipFill>
        <p:spPr>
          <a:xfrm>
            <a:off x="9591675" y="4905375"/>
            <a:ext cx="1914525" cy="1285875"/>
          </a:xfrm>
          <a:prstGeom prst="rect">
            <a:avLst/>
          </a:prstGeom>
        </p:spPr>
      </p:pic>
    </p:spTree>
    <p:extLst>
      <p:ext uri="{BB962C8B-B14F-4D97-AF65-F5344CB8AC3E}">
        <p14:creationId xmlns:p14="http://schemas.microsoft.com/office/powerpoint/2010/main" val="1973747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F40F519-FE4E-4119-8706-8ACF93B2F95D}"/>
              </a:ext>
            </a:extLst>
          </p:cNvPr>
          <p:cNvSpPr>
            <a:spLocks noGrp="1"/>
          </p:cNvSpPr>
          <p:nvPr/>
        </p:nvSpPr>
        <p:spPr>
          <a:xfrm>
            <a:off x="685800" y="552450"/>
            <a:ext cx="10820400" cy="857250"/>
          </a:xfrm>
          <a:prstGeom prst="rect">
            <a:avLst/>
          </a:prstGeom>
          <a:noFill/>
          <a:ln w="0">
            <a:noFill/>
          </a:ln>
        </p:spPr>
        <p:txBody>
          <a:bodyPr/>
          <a:lstStyle>
            <a:defPPr>
              <a:defRPr sz="3600" b="1">
                <a:solidFill>
                  <a:srgbClr val="102F3C"/>
                </a:solidFill>
                <a:latin typeface="Helvetica Neue"/>
                <a:ea typeface="Helvetica Neue"/>
                <a:cs typeface="Helvetica Neue"/>
              </a:defRPr>
            </a:defPPr>
          </a:lstStyle>
          <a:p>
            <a:pPr>
              <a:defRPr sz="3600" b="1">
                <a:solidFill>
                  <a:srgbClr val="102F3C"/>
                </a:solidFill>
                <a:latin typeface="Helvetica Neue"/>
                <a:ea typeface="Helvetica Neue"/>
                <a:cs typeface="Helvetica Neue"/>
              </a:defRPr>
            </a:pPr>
            <a:r>
              <a:rPr sz="3600" b="1">
                <a:solidFill>
                  <a:srgbClr val="102F3C"/>
                </a:solidFill>
                <a:latin typeface="Helvetica Neue"/>
                <a:ea typeface="Helvetica Neue"/>
                <a:cs typeface="Helvetica Neue"/>
              </a:rPr>
              <a:t>Next steps</a:t>
            </a:r>
          </a:p>
        </p:txBody>
      </p:sp>
      <p:sp>
        <p:nvSpPr>
          <p:cNvPr id="2" name="Rectangle 1">
            <a:extLst>
              <a:ext uri="{FF2B5EF4-FFF2-40B4-BE49-F238E27FC236}">
                <a16:creationId xmlns:a16="http://schemas.microsoft.com/office/drawing/2014/main" id="{86D63FD2-0955-43DB-9D88-10DAA0F283E3}"/>
              </a:ext>
            </a:extLst>
          </p:cNvPr>
          <p:cNvSpPr>
            <a:spLocks noGrp="1"/>
          </p:cNvSpPr>
          <p:nvPr/>
        </p:nvSpPr>
        <p:spPr>
          <a:xfrm>
            <a:off x="11096625" y="6267450"/>
            <a:ext cx="457200" cy="266700"/>
          </a:xfrm>
          <a:prstGeom prst="rect">
            <a:avLst/>
          </a:prstGeom>
          <a:noFill/>
          <a:ln w="0">
            <a:noFill/>
          </a:ln>
        </p:spPr>
        <p:txBody>
          <a:bodyPr/>
          <a:lstStyle>
            <a:defPPr>
              <a:defRPr sz="1275" b="0">
                <a:solidFill>
                  <a:srgbClr val="516871"/>
                </a:solidFill>
                <a:latin typeface="Helvetica Neue"/>
                <a:ea typeface="Helvetica Neue"/>
                <a:cs typeface="Helvetica Neue"/>
              </a:defRPr>
            </a:defPPr>
          </a:lstStyle>
          <a:p>
            <a:pPr>
              <a:defRPr sz="1275" b="0">
                <a:solidFill>
                  <a:srgbClr val="516871"/>
                </a:solidFill>
                <a:latin typeface="Helvetica Neue"/>
                <a:ea typeface="Helvetica Neue"/>
                <a:cs typeface="Helvetica Neue"/>
              </a:defRPr>
            </a:pPr>
            <a:r>
              <a:rPr sz="1275" b="0">
                <a:solidFill>
                  <a:srgbClr val="516871"/>
                </a:solidFill>
                <a:latin typeface="Helvetica Neue"/>
                <a:ea typeface="Helvetica Neue"/>
                <a:cs typeface="Helvetica Neue"/>
              </a:rPr>
              <a:t>05</a:t>
            </a:r>
          </a:p>
        </p:txBody>
      </p:sp>
      <p:sp>
        <p:nvSpPr>
          <p:cNvPr id="3" name="Rectangle 2">
            <a:extLst>
              <a:ext uri="{FF2B5EF4-FFF2-40B4-BE49-F238E27FC236}">
                <a16:creationId xmlns:a16="http://schemas.microsoft.com/office/drawing/2014/main" id="{94C084E6-3030-47A6-9D7F-D696B66DE9DA}"/>
              </a:ext>
            </a:extLst>
          </p:cNvPr>
          <p:cNvSpPr>
            <a:spLocks noGrp="1"/>
          </p:cNvSpPr>
          <p:nvPr/>
        </p:nvSpPr>
        <p:spPr>
          <a:xfrm>
            <a:off x="704850" y="1676400"/>
            <a:ext cx="5048250" cy="476250"/>
          </a:xfrm>
          <a:prstGeom prst="rect">
            <a:avLst/>
          </a:prstGeom>
          <a:noFill/>
          <a:ln w="0">
            <a:noFill/>
          </a:ln>
        </p:spPr>
        <p:txBody>
          <a:bodyPr/>
          <a:lstStyle>
            <a:defPPr>
              <a:defRPr sz="2400" b="1">
                <a:solidFill>
                  <a:srgbClr val="007F78"/>
                </a:solidFill>
                <a:latin typeface="Helvetica Neue"/>
                <a:ea typeface="Helvetica Neue"/>
                <a:cs typeface="Helvetica Neue"/>
              </a:defRPr>
            </a:defPPr>
          </a:lstStyle>
          <a:p>
            <a:pPr>
              <a:defRPr sz="2400" b="1">
                <a:solidFill>
                  <a:srgbClr val="007F78"/>
                </a:solidFill>
                <a:latin typeface="Helvetica Neue"/>
                <a:ea typeface="Helvetica Neue"/>
                <a:cs typeface="Helvetica Neue"/>
              </a:defRPr>
            </a:pPr>
            <a:r>
              <a:rPr sz="2400" b="1">
                <a:solidFill>
                  <a:srgbClr val="007F78"/>
                </a:solidFill>
                <a:latin typeface="Helvetica Neue"/>
                <a:ea typeface="Helvetica Neue"/>
                <a:cs typeface="Helvetica Neue"/>
              </a:rPr>
              <a:t>Drive sensitization</a:t>
            </a:r>
          </a:p>
        </p:txBody>
      </p:sp>
      <p:sp>
        <p:nvSpPr>
          <p:cNvPr id="4" name="Rectangle 3">
            <a:extLst>
              <a:ext uri="{FF2B5EF4-FFF2-40B4-BE49-F238E27FC236}">
                <a16:creationId xmlns:a16="http://schemas.microsoft.com/office/drawing/2014/main" id="{96DD08B1-2F44-43F8-83DF-237E7FF4923C}"/>
              </a:ext>
            </a:extLst>
          </p:cNvPr>
          <p:cNvSpPr>
            <a:spLocks noGrp="1"/>
          </p:cNvSpPr>
          <p:nvPr/>
        </p:nvSpPr>
        <p:spPr>
          <a:xfrm>
            <a:off x="704850" y="2324100"/>
            <a:ext cx="5095875" cy="1381125"/>
          </a:xfrm>
          <a:prstGeom prst="rect">
            <a:avLst/>
          </a:prstGeom>
          <a:noFill/>
          <a:ln w="0">
            <a:noFill/>
          </a:ln>
        </p:spPr>
        <p:txBody>
          <a:bodyPr/>
          <a:lstStyle>
            <a:defPPr>
              <a:defRPr sz="2025" b="0">
                <a:solidFill>
                  <a:srgbClr val="102F3C"/>
                </a:solidFill>
                <a:latin typeface="Helvetica Neue"/>
                <a:ea typeface="Helvetica Neue"/>
                <a:cs typeface="Helvetica Neue"/>
              </a:defRPr>
            </a:defPPr>
          </a:lstStyle>
          <a:p>
            <a:pPr>
              <a:defRPr sz="2025" b="0">
                <a:solidFill>
                  <a:srgbClr val="102F3C"/>
                </a:solidFill>
                <a:latin typeface="Helvetica Neue"/>
                <a:ea typeface="Helvetica Neue"/>
                <a:cs typeface="Helvetica Neue"/>
              </a:defRPr>
            </a:pPr>
            <a:r>
              <a:rPr sz="2025" b="0">
                <a:solidFill>
                  <a:srgbClr val="102F3C"/>
                </a:solidFill>
                <a:latin typeface="Helvetica Neue"/>
                <a:ea typeface="Helvetica Neue"/>
                <a:cs typeface="Helvetica Neue"/>
              </a:rPr>
              <a:t>Run demonstrations and orientation sessions.</a:t>
            </a:r>
          </a:p>
          <a:p>
            <a:pPr>
              <a:defRPr sz="2025" b="0">
                <a:solidFill>
                  <a:srgbClr val="102F3C"/>
                </a:solidFill>
                <a:latin typeface="Helvetica Neue"/>
                <a:ea typeface="Helvetica Neue"/>
                <a:cs typeface="Helvetica Neue"/>
              </a:defRPr>
            </a:pPr>
            <a:r>
              <a:rPr sz="2025" b="0">
                <a:solidFill>
                  <a:srgbClr val="102F3C"/>
                </a:solidFill>
                <a:latin typeface="Helvetica Neue"/>
                <a:ea typeface="Helvetica Neue"/>
                <a:cs typeface="Helvetica Neue"/>
              </a:rPr>
              <a:t>Equip facility champions with user guides.</a:t>
            </a:r>
          </a:p>
          <a:p>
            <a:pPr>
              <a:defRPr sz="2025" b="0">
                <a:solidFill>
                  <a:srgbClr val="102F3C"/>
                </a:solidFill>
                <a:latin typeface="Helvetica Neue"/>
                <a:ea typeface="Helvetica Neue"/>
                <a:cs typeface="Helvetica Neue"/>
              </a:defRPr>
            </a:pPr>
            <a:r>
              <a:rPr sz="2025" b="0">
                <a:solidFill>
                  <a:srgbClr val="102F3C"/>
                </a:solidFill>
                <a:latin typeface="Helvetica Neue"/>
                <a:ea typeface="Helvetica Neue"/>
                <a:cs typeface="Helvetica Neue"/>
              </a:rPr>
              <a:t>Collect feedback and track adoption.</a:t>
            </a:r>
          </a:p>
        </p:txBody>
      </p:sp>
      <p:sp>
        <p:nvSpPr>
          <p:cNvPr id="5" name="Rectangle 4">
            <a:extLst>
              <a:ext uri="{FF2B5EF4-FFF2-40B4-BE49-F238E27FC236}">
                <a16:creationId xmlns:a16="http://schemas.microsoft.com/office/drawing/2014/main" id="{1206F2DF-287B-482F-A032-839162E641A9}"/>
              </a:ext>
            </a:extLst>
          </p:cNvPr>
          <p:cNvSpPr>
            <a:spLocks noGrp="1"/>
          </p:cNvSpPr>
          <p:nvPr/>
        </p:nvSpPr>
        <p:spPr>
          <a:xfrm>
            <a:off x="704850" y="3962400"/>
            <a:ext cx="5095875" cy="619125"/>
          </a:xfrm>
          <a:prstGeom prst="rect">
            <a:avLst/>
          </a:prstGeom>
          <a:noFill/>
          <a:ln w="0">
            <a:noFill/>
          </a:ln>
        </p:spPr>
        <p:txBody>
          <a:bodyPr/>
          <a:lstStyle>
            <a:defPPr>
              <a:defRPr sz="2400" b="1">
                <a:solidFill>
                  <a:srgbClr val="007F78"/>
                </a:solidFill>
                <a:latin typeface="Helvetica Neue"/>
                <a:ea typeface="Helvetica Neue"/>
                <a:cs typeface="Helvetica Neue"/>
              </a:defRPr>
            </a:defPPr>
          </a:lstStyle>
          <a:p>
            <a:pPr>
              <a:defRPr sz="2400" b="1">
                <a:solidFill>
                  <a:srgbClr val="007F78"/>
                </a:solidFill>
                <a:latin typeface="Helvetica Neue"/>
                <a:ea typeface="Helvetica Neue"/>
                <a:cs typeface="Helvetica Neue"/>
              </a:defRPr>
            </a:pPr>
            <a:r>
              <a:rPr sz="2400" b="1">
                <a:solidFill>
                  <a:srgbClr val="007F78"/>
                </a:solidFill>
                <a:latin typeface="Helvetica Neue"/>
                <a:ea typeface="Helvetica Neue"/>
                <a:cs typeface="Helvetica Neue"/>
              </a:rPr>
              <a:t>Expand MoH-approved content</a:t>
            </a:r>
          </a:p>
        </p:txBody>
      </p:sp>
      <p:sp>
        <p:nvSpPr>
          <p:cNvPr id="6" name="Rectangle 5">
            <a:extLst>
              <a:ext uri="{FF2B5EF4-FFF2-40B4-BE49-F238E27FC236}">
                <a16:creationId xmlns:a16="http://schemas.microsoft.com/office/drawing/2014/main" id="{5B04B618-F6E8-413B-8EC6-CFEC69206477}"/>
              </a:ext>
            </a:extLst>
          </p:cNvPr>
          <p:cNvSpPr>
            <a:spLocks noGrp="1"/>
          </p:cNvSpPr>
          <p:nvPr/>
        </p:nvSpPr>
        <p:spPr>
          <a:xfrm>
            <a:off x="704850" y="4667250"/>
            <a:ext cx="5191125" cy="1638300"/>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Maternal, newborn and child health</a:t>
            </a:r>
          </a:p>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HIV, TB, malaria and other disease guidance</a:t>
            </a:r>
          </a:p>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NCD and mental health</a:t>
            </a:r>
          </a:p>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Emergency care and referral protocols</a:t>
            </a:r>
          </a:p>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Drug references and treatment algorithms</a:t>
            </a:r>
          </a:p>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IPC, laboratory and outbreak resources</a:t>
            </a:r>
          </a:p>
        </p:txBody>
      </p:sp>
      <p:sp>
        <p:nvSpPr>
          <p:cNvPr id="7" name="Rectangle 6">
            <a:extLst>
              <a:ext uri="{FF2B5EF4-FFF2-40B4-BE49-F238E27FC236}">
                <a16:creationId xmlns:a16="http://schemas.microsoft.com/office/drawing/2014/main" id="{8AAF42A1-8830-4A80-921A-E11CD32A5A6A}"/>
              </a:ext>
            </a:extLst>
          </p:cNvPr>
          <p:cNvSpPr>
            <a:spLocks noGrp="1"/>
          </p:cNvSpPr>
          <p:nvPr/>
        </p:nvSpPr>
        <p:spPr>
          <a:xfrm>
            <a:off x="6334125" y="1676400"/>
            <a:ext cx="5191125" cy="666750"/>
          </a:xfrm>
          <a:prstGeom prst="rect">
            <a:avLst/>
          </a:prstGeom>
          <a:noFill/>
          <a:ln w="0">
            <a:noFill/>
          </a:ln>
        </p:spPr>
        <p:txBody>
          <a:bodyPr/>
          <a:lstStyle>
            <a:defPPr>
              <a:defRPr sz="2400" b="1">
                <a:solidFill>
                  <a:srgbClr val="007F78"/>
                </a:solidFill>
                <a:latin typeface="Helvetica Neue"/>
                <a:ea typeface="Helvetica Neue"/>
                <a:cs typeface="Helvetica Neue"/>
              </a:defRPr>
            </a:defPPr>
          </a:lstStyle>
          <a:p>
            <a:pPr>
              <a:defRPr sz="2400" b="1">
                <a:solidFill>
                  <a:srgbClr val="007F78"/>
                </a:solidFill>
                <a:latin typeface="Helvetica Neue"/>
                <a:ea typeface="Helvetica Neue"/>
                <a:cs typeface="Helvetica Neue"/>
              </a:defRPr>
            </a:pPr>
            <a:r>
              <a:rPr sz="2400" b="1">
                <a:solidFill>
                  <a:srgbClr val="007F78"/>
                </a:solidFill>
                <a:latin typeface="Helvetica Neue"/>
                <a:ea typeface="Helvetica Neue"/>
                <a:cs typeface="Helvetica Neue"/>
              </a:rPr>
              <a:t>Improve the AI implementation</a:t>
            </a:r>
          </a:p>
        </p:txBody>
      </p:sp>
      <p:sp>
        <p:nvSpPr>
          <p:cNvPr id="8" name="Rectangle 7">
            <a:extLst>
              <a:ext uri="{FF2B5EF4-FFF2-40B4-BE49-F238E27FC236}">
                <a16:creationId xmlns:a16="http://schemas.microsoft.com/office/drawing/2014/main" id="{9222726B-94A3-43E5-ADAB-56E07EB4B540}"/>
              </a:ext>
            </a:extLst>
          </p:cNvPr>
          <p:cNvSpPr>
            <a:spLocks noGrp="1"/>
          </p:cNvSpPr>
          <p:nvPr/>
        </p:nvSpPr>
        <p:spPr>
          <a:xfrm>
            <a:off x="6334125" y="2609850"/>
            <a:ext cx="5143500" cy="361950"/>
          </a:xfrm>
          <a:prstGeom prst="rect">
            <a:avLst/>
          </a:prstGeom>
          <a:noFill/>
          <a:ln w="0">
            <a:noFill/>
          </a:ln>
        </p:spPr>
        <p:txBody>
          <a:bodyPr/>
          <a:lstStyle>
            <a:defPPr>
              <a:defRPr sz="1950" b="1">
                <a:solidFill>
                  <a:srgbClr val="007F78"/>
                </a:solidFill>
                <a:latin typeface="Helvetica Neue"/>
                <a:ea typeface="Helvetica Neue"/>
                <a:cs typeface="Helvetica Neue"/>
              </a:defRPr>
            </a:defPPr>
          </a:lstStyle>
          <a:p>
            <a:pPr>
              <a:defRPr sz="1950" b="1">
                <a:solidFill>
                  <a:srgbClr val="007F78"/>
                </a:solidFill>
                <a:latin typeface="Helvetica Neue"/>
                <a:ea typeface="Helvetica Neue"/>
                <a:cs typeface="Helvetica Neue"/>
              </a:defRPr>
            </a:pPr>
            <a:r>
              <a:rPr sz="1950" b="1">
                <a:solidFill>
                  <a:srgbClr val="007F78"/>
                </a:solidFill>
                <a:latin typeface="Helvetica Neue"/>
                <a:ea typeface="Helvetica Neue"/>
                <a:cs typeface="Helvetica Neue"/>
              </a:rPr>
              <a:t>Broader evidence</a:t>
            </a:r>
          </a:p>
        </p:txBody>
      </p:sp>
      <p:sp>
        <p:nvSpPr>
          <p:cNvPr id="9" name="Rectangle 8">
            <a:extLst>
              <a:ext uri="{FF2B5EF4-FFF2-40B4-BE49-F238E27FC236}">
                <a16:creationId xmlns:a16="http://schemas.microsoft.com/office/drawing/2014/main" id="{DC839FE0-C680-44CC-9727-734883E9F88C}"/>
              </a:ext>
            </a:extLst>
          </p:cNvPr>
          <p:cNvSpPr>
            <a:spLocks noGrp="1"/>
          </p:cNvSpPr>
          <p:nvPr/>
        </p:nvSpPr>
        <p:spPr>
          <a:xfrm>
            <a:off x="6334125" y="2962275"/>
            <a:ext cx="5143500" cy="571500"/>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Add more reviewed MoH guidance to AI retrieval.</a:t>
            </a:r>
          </a:p>
        </p:txBody>
      </p:sp>
      <p:sp>
        <p:nvSpPr>
          <p:cNvPr id="10" name="Rectangle 9">
            <a:extLst>
              <a:ext uri="{FF2B5EF4-FFF2-40B4-BE49-F238E27FC236}">
                <a16:creationId xmlns:a16="http://schemas.microsoft.com/office/drawing/2014/main" id="{59B75286-C3B6-4387-9B62-F09EF9B09C9F}"/>
              </a:ext>
            </a:extLst>
          </p:cNvPr>
          <p:cNvSpPr>
            <a:spLocks noGrp="1"/>
          </p:cNvSpPr>
          <p:nvPr/>
        </p:nvSpPr>
        <p:spPr>
          <a:xfrm>
            <a:off x="6334125" y="3505200"/>
            <a:ext cx="5143500" cy="361950"/>
          </a:xfrm>
          <a:prstGeom prst="rect">
            <a:avLst/>
          </a:prstGeom>
          <a:noFill/>
          <a:ln w="0">
            <a:noFill/>
          </a:ln>
        </p:spPr>
        <p:txBody>
          <a:bodyPr/>
          <a:lstStyle>
            <a:defPPr>
              <a:defRPr sz="1950" b="1">
                <a:solidFill>
                  <a:srgbClr val="007F78"/>
                </a:solidFill>
                <a:latin typeface="Helvetica Neue"/>
                <a:ea typeface="Helvetica Neue"/>
                <a:cs typeface="Helvetica Neue"/>
              </a:defRPr>
            </a:defPPr>
          </a:lstStyle>
          <a:p>
            <a:pPr>
              <a:defRPr sz="1950" b="1">
                <a:solidFill>
                  <a:srgbClr val="007F78"/>
                </a:solidFill>
                <a:latin typeface="Helvetica Neue"/>
                <a:ea typeface="Helvetica Neue"/>
                <a:cs typeface="Helvetica Neue"/>
              </a:defRPr>
            </a:pPr>
            <a:r>
              <a:rPr sz="1950" b="1">
                <a:solidFill>
                  <a:srgbClr val="007F78"/>
                </a:solidFill>
                <a:latin typeface="Helvetica Neue"/>
                <a:ea typeface="Helvetica Neue"/>
                <a:cs typeface="Helvetica Neue"/>
              </a:rPr>
              <a:t>More relevant answers</a:t>
            </a:r>
          </a:p>
        </p:txBody>
      </p:sp>
      <p:sp>
        <p:nvSpPr>
          <p:cNvPr id="11" name="Rectangle 10">
            <a:extLst>
              <a:ext uri="{FF2B5EF4-FFF2-40B4-BE49-F238E27FC236}">
                <a16:creationId xmlns:a16="http://schemas.microsoft.com/office/drawing/2014/main" id="{782A8710-7247-45EB-86BB-67D7BFF4ABC0}"/>
              </a:ext>
            </a:extLst>
          </p:cNvPr>
          <p:cNvSpPr>
            <a:spLocks noGrp="1"/>
          </p:cNvSpPr>
          <p:nvPr/>
        </p:nvSpPr>
        <p:spPr>
          <a:xfrm>
            <a:off x="6334125" y="3857625"/>
            <a:ext cx="5143500" cy="571500"/>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Improve retrieval and links to source sections and versions.</a:t>
            </a:r>
          </a:p>
        </p:txBody>
      </p:sp>
      <p:sp>
        <p:nvSpPr>
          <p:cNvPr id="12" name="Rectangle 11">
            <a:extLst>
              <a:ext uri="{FF2B5EF4-FFF2-40B4-BE49-F238E27FC236}">
                <a16:creationId xmlns:a16="http://schemas.microsoft.com/office/drawing/2014/main" id="{C453D6A7-BD52-47FD-904E-1E02F17C6499}"/>
              </a:ext>
            </a:extLst>
          </p:cNvPr>
          <p:cNvSpPr>
            <a:spLocks noGrp="1"/>
          </p:cNvSpPr>
          <p:nvPr/>
        </p:nvSpPr>
        <p:spPr>
          <a:xfrm>
            <a:off x="6334125" y="4400550"/>
            <a:ext cx="5143500" cy="361950"/>
          </a:xfrm>
          <a:prstGeom prst="rect">
            <a:avLst/>
          </a:prstGeom>
          <a:noFill/>
          <a:ln w="0">
            <a:noFill/>
          </a:ln>
        </p:spPr>
        <p:txBody>
          <a:bodyPr/>
          <a:lstStyle>
            <a:defPPr>
              <a:defRPr sz="1950" b="1">
                <a:solidFill>
                  <a:srgbClr val="007F78"/>
                </a:solidFill>
                <a:latin typeface="Helvetica Neue"/>
                <a:ea typeface="Helvetica Neue"/>
                <a:cs typeface="Helvetica Neue"/>
              </a:defRPr>
            </a:defPPr>
          </a:lstStyle>
          <a:p>
            <a:pPr>
              <a:defRPr sz="1950" b="1">
                <a:solidFill>
                  <a:srgbClr val="007F78"/>
                </a:solidFill>
                <a:latin typeface="Helvetica Neue"/>
                <a:ea typeface="Helvetica Neue"/>
                <a:cs typeface="Helvetica Neue"/>
              </a:defRPr>
            </a:pPr>
            <a:r>
              <a:rPr sz="1950" b="1">
                <a:solidFill>
                  <a:srgbClr val="007F78"/>
                </a:solidFill>
                <a:latin typeface="Helvetica Neue"/>
                <a:ea typeface="Helvetica Neue"/>
                <a:cs typeface="Helvetica Neue"/>
              </a:rPr>
              <a:t>Clinical evaluation</a:t>
            </a:r>
          </a:p>
        </p:txBody>
      </p:sp>
      <p:sp>
        <p:nvSpPr>
          <p:cNvPr id="13" name="Rectangle 12">
            <a:extLst>
              <a:ext uri="{FF2B5EF4-FFF2-40B4-BE49-F238E27FC236}">
                <a16:creationId xmlns:a16="http://schemas.microsoft.com/office/drawing/2014/main" id="{E411A928-53CB-4F74-A54F-812B0001CFA7}"/>
              </a:ext>
            </a:extLst>
          </p:cNvPr>
          <p:cNvSpPr>
            <a:spLocks noGrp="1"/>
          </p:cNvSpPr>
          <p:nvPr/>
        </p:nvSpPr>
        <p:spPr>
          <a:xfrm>
            <a:off x="6334125" y="4752975"/>
            <a:ext cx="5143500" cy="571500"/>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Test answers with clinician-reviewed questions and feedback.</a:t>
            </a:r>
          </a:p>
        </p:txBody>
      </p:sp>
      <p:sp>
        <p:nvSpPr>
          <p:cNvPr id="14" name="Rectangle 13">
            <a:extLst>
              <a:ext uri="{FF2B5EF4-FFF2-40B4-BE49-F238E27FC236}">
                <a16:creationId xmlns:a16="http://schemas.microsoft.com/office/drawing/2014/main" id="{69BF49FE-02B8-4572-A768-D00EF5CFD314}"/>
              </a:ext>
            </a:extLst>
          </p:cNvPr>
          <p:cNvSpPr>
            <a:spLocks noGrp="1"/>
          </p:cNvSpPr>
          <p:nvPr/>
        </p:nvSpPr>
        <p:spPr>
          <a:xfrm>
            <a:off x="6334125" y="5295900"/>
            <a:ext cx="5143500" cy="361950"/>
          </a:xfrm>
          <a:prstGeom prst="rect">
            <a:avLst/>
          </a:prstGeom>
          <a:noFill/>
          <a:ln w="0">
            <a:noFill/>
          </a:ln>
        </p:spPr>
        <p:txBody>
          <a:bodyPr/>
          <a:lstStyle>
            <a:defPPr>
              <a:defRPr sz="1950" b="1">
                <a:solidFill>
                  <a:srgbClr val="007F78"/>
                </a:solidFill>
                <a:latin typeface="Helvetica Neue"/>
                <a:ea typeface="Helvetica Neue"/>
                <a:cs typeface="Helvetica Neue"/>
              </a:defRPr>
            </a:defPPr>
          </a:lstStyle>
          <a:p>
            <a:pPr>
              <a:defRPr sz="1950" b="1">
                <a:solidFill>
                  <a:srgbClr val="007F78"/>
                </a:solidFill>
                <a:latin typeface="Helvetica Neue"/>
                <a:ea typeface="Helvetica Neue"/>
                <a:cs typeface="Helvetica Neue"/>
              </a:defRPr>
            </a:pPr>
            <a:r>
              <a:rPr sz="1950" b="1">
                <a:solidFill>
                  <a:srgbClr val="007F78"/>
                </a:solidFill>
                <a:latin typeface="Helvetica Neue"/>
                <a:ea typeface="Helvetica Neue"/>
                <a:cs typeface="Helvetica Neue"/>
              </a:rPr>
              <a:t>Quality and reliability</a:t>
            </a:r>
          </a:p>
        </p:txBody>
      </p:sp>
      <p:sp>
        <p:nvSpPr>
          <p:cNvPr id="15" name="Rectangle 14">
            <a:extLst>
              <a:ext uri="{FF2B5EF4-FFF2-40B4-BE49-F238E27FC236}">
                <a16:creationId xmlns:a16="http://schemas.microsoft.com/office/drawing/2014/main" id="{57FA85A2-BE69-4C81-B748-1B5196A0853A}"/>
              </a:ext>
            </a:extLst>
          </p:cNvPr>
          <p:cNvSpPr>
            <a:spLocks noGrp="1"/>
          </p:cNvSpPr>
          <p:nvPr/>
        </p:nvSpPr>
        <p:spPr>
          <a:xfrm>
            <a:off x="6334125" y="5648325"/>
            <a:ext cx="5143500" cy="571500"/>
          </a:xfrm>
          <a:prstGeom prst="rect">
            <a:avLst/>
          </a:prstGeom>
          <a:noFill/>
          <a:ln w="0">
            <a:noFill/>
          </a:ln>
        </p:spPr>
        <p:txBody>
          <a:bodyPr/>
          <a:lstStyle>
            <a:defPPr>
              <a:defRPr sz="1800" b="0">
                <a:solidFill>
                  <a:srgbClr val="102F3C"/>
                </a:solidFill>
                <a:latin typeface="Helvetica Neue"/>
                <a:ea typeface="Helvetica Neue"/>
                <a:cs typeface="Helvetica Neue"/>
              </a:defRPr>
            </a:defPPr>
          </a:lstStyle>
          <a:p>
            <a:pPr>
              <a:defRPr sz="1800" b="0">
                <a:solidFill>
                  <a:srgbClr val="102F3C"/>
                </a:solidFill>
                <a:latin typeface="Helvetica Neue"/>
                <a:ea typeface="Helvetica Neue"/>
                <a:cs typeface="Helvetica Neue"/>
              </a:defRPr>
            </a:pPr>
            <a:r>
              <a:rPr sz="1800" b="0">
                <a:solidFill>
                  <a:srgbClr val="102F3C"/>
                </a:solidFill>
                <a:latin typeface="Helvetica Neue"/>
                <a:ea typeface="Helvetica Neue"/>
                <a:cs typeface="Helvetica Neue"/>
              </a:rPr>
              <a:t>Monitor errors and response time. State when evidence is insufficient.</a:t>
            </a:r>
          </a:p>
        </p:txBody>
      </p:sp>
    </p:spTree>
    <p:extLst>
      <p:ext uri="{BB962C8B-B14F-4D97-AF65-F5344CB8AC3E}">
        <p14:creationId xmlns:p14="http://schemas.microsoft.com/office/powerpoint/2010/main" val="185258732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947</Words>
  <Application>Microsoft Macintosh PowerPoint</Application>
  <DocSecurity>0</DocSecurity>
  <PresentationFormat>Widescreen</PresentationFormat>
  <Paragraphs>73</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Helvetica Neue</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Jaaba Jeremiah</cp:lastModifiedBy>
  <cp:revision>1</cp:revision>
  <dcterms:created xsi:type="dcterms:W3CDTF">2026-10-20T09:49:30Z</dcterms:created>
  <dcterms:modified xsi:type="dcterms:W3CDTF">2026-10-20T10:26:58Z</dcterms:modified>
</cp:coreProperties>
</file>